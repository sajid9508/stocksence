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B26"/>
                </a:solidFill>
                <a:latin typeface="+mn-lt"/>
              </a:defRPr>
            </a:pPr>
            <a:r>
              <a:rPr sz="1400" b="0" i="0" u="none" strike="noStrike">
                <a:solidFill>
                  <a:srgbClr val="0B2B26"/>
                </a:solidFill>
                <a:latin typeface="+mn-lt"/>
              </a:rPr>
              <a:t>Bread Loaf: last 14 days (illustrative)</a:t>
            </a:r>
          </a:p>
        </c:rich>
      </c:tx>
      <c:layout/>
      <c:overlay val="0"/>
    </c:title>
    <c:autoTitleDeleted val="0"/>
    <c:plotArea>
      <c:layout/>
      <c:lineChart>
        <c:varyColors val="0"/>
        <c:ser>
          <c:idx val="0"/>
          <c:order val="0"/>
          <c:tx>
            <c:strRef>
              <c:f>Sheet1!$B$1</c:f>
              <c:strCache>
                <c:ptCount val="1"/>
                <c:pt idx="0">
                  <c:v>Daily sales</c:v>
                </c:pt>
              </c:strCache>
            </c:strRef>
          </c:tx>
          <c:spPr>
            <a:solidFill>
              <a:srgbClr val="1A8F83"/>
            </a:solidFill>
            <a:ln w="31750" cap="flat">
              <a:solidFill>
                <a:srgbClr val="1A8F8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A8F83"/>
              </a:solidFill>
              <a:ln w="9525" cap="flat">
                <a:solidFill>
                  <a:srgbClr val="1A8F83"/>
                </a:solidFill>
                <a:prstDash val="solid"/>
                <a:round/>
              </a:ln>
              <a:effectLst/>
            </c:spPr>
          </c:marker>
          <c:cat>
            <c:multiLvlStrRef>
              <c:f>Sheet1!$A$2:$A$15</c:f>
              <c:multiLvlStrCache>
                <c:ptCount val="14"/>
                <c:lvl>
                  <c:pt idx="0">
                    <c:v>D1</c:v>
                  </c:pt>
                  <c:pt idx="1">
                    <c:v>D2</c:v>
                  </c:pt>
                  <c:pt idx="2">
                    <c:v>D3</c:v>
                  </c:pt>
                  <c:pt idx="3">
                    <c:v>D4</c:v>
                  </c:pt>
                  <c:pt idx="4">
                    <c:v>D5</c:v>
                  </c:pt>
                  <c:pt idx="5">
                    <c:v>D6</c:v>
                  </c:pt>
                  <c:pt idx="6">
                    <c:v>D7</c:v>
                  </c:pt>
                  <c:pt idx="7">
                    <c:v>D8</c:v>
                  </c:pt>
                  <c:pt idx="8">
                    <c:v>D9</c:v>
                  </c:pt>
                  <c:pt idx="9">
                    <c:v>D10</c:v>
                  </c:pt>
                  <c:pt idx="10">
                    <c:v>D11</c:v>
                  </c:pt>
                  <c:pt idx="11">
                    <c:v>D12</c:v>
                  </c:pt>
                  <c:pt idx="12">
                    <c:v>D13</c:v>
                  </c:pt>
                  <c:pt idx="13">
                    <c:v>D14</c:v>
                  </c:pt>
                </c:lvl>
              </c:multiLvlStrCache>
            </c:multiLvlStrRef>
          </c:cat>
          <c:val>
            <c:numRef>
              <c:f>Sheet1!$B$2:$B$15</c:f>
              <c:numCache>
                <c:formatCode>General</c:formatCode>
                <c:ptCount val="14"/>
                <c:pt idx="0">
                  <c:v>18</c:v>
                </c:pt>
                <c:pt idx="1">
                  <c:v>22</c:v>
                </c:pt>
                <c:pt idx="2">
                  <c:v>19</c:v>
                </c:pt>
                <c:pt idx="3">
                  <c:v>21</c:v>
                </c:pt>
                <c:pt idx="4">
                  <c:v>23</c:v>
                </c:pt>
                <c:pt idx="5">
                  <c:v>17</c:v>
                </c:pt>
                <c:pt idx="6">
                  <c:v>20</c:v>
                </c:pt>
                <c:pt idx="7">
                  <c:v>19</c:v>
                </c:pt>
                <c:pt idx="8">
                  <c:v>22</c:v>
                </c:pt>
                <c:pt idx="9">
                  <c:v>20</c:v>
                </c:pt>
                <c:pt idx="10">
                  <c:v>18</c:v>
                </c:pt>
                <c:pt idx="11">
                  <c:v>22</c:v>
                </c:pt>
                <c:pt idx="12">
                  <c:v>21</c:v>
                </c:pt>
                <c:pt idx="13">
                  <c:v>18</c:v>
                </c:pt>
              </c:numCache>
            </c:numRef>
          </c:val>
          <c:smooth val="0"/>
        </c:ser>
        <c:ser>
          <c:idx val="1"/>
          <c:order val="1"/>
          <c:tx>
            <c:strRef>
              <c:f>Sheet1!$C$1</c:f>
              <c:strCache>
                <c:ptCount val="1"/>
                <c:pt idx="0">
                  <c:v>14-day average (d = 20)</c:v>
                </c:pt>
              </c:strCache>
            </c:strRef>
          </c:tx>
          <c:spPr>
            <a:solidFill>
              <a:srgbClr val="E8603C"/>
            </a:solidFill>
            <a:ln w="31750" cap="flat">
              <a:solidFill>
                <a:srgbClr val="E860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603C"/>
              </a:solidFill>
              <a:ln w="9525" cap="flat">
                <a:solidFill>
                  <a:srgbClr val="E8603C"/>
                </a:solidFill>
                <a:prstDash val="solid"/>
                <a:round/>
              </a:ln>
              <a:effectLst/>
            </c:spPr>
          </c:marker>
          <c:cat>
            <c:multiLvlStrRef>
              <c:f>Sheet1!$A$2:$A$15</c:f>
              <c:multiLvlStrCache>
                <c:ptCount val="14"/>
                <c:lvl>
                  <c:pt idx="0">
                    <c:v>D1</c:v>
                  </c:pt>
                  <c:pt idx="1">
                    <c:v>D2</c:v>
                  </c:pt>
                  <c:pt idx="2">
                    <c:v>D3</c:v>
                  </c:pt>
                  <c:pt idx="3">
                    <c:v>D4</c:v>
                  </c:pt>
                  <c:pt idx="4">
                    <c:v>D5</c:v>
                  </c:pt>
                  <c:pt idx="5">
                    <c:v>D6</c:v>
                  </c:pt>
                  <c:pt idx="6">
                    <c:v>D7</c:v>
                  </c:pt>
                  <c:pt idx="7">
                    <c:v>D8</c:v>
                  </c:pt>
                  <c:pt idx="8">
                    <c:v>D9</c:v>
                  </c:pt>
                  <c:pt idx="9">
                    <c:v>D10</c:v>
                  </c:pt>
                  <c:pt idx="10">
                    <c:v>D11</c:v>
                  </c:pt>
                  <c:pt idx="11">
                    <c:v>D12</c:v>
                  </c:pt>
                  <c:pt idx="12">
                    <c:v>D13</c:v>
                  </c:pt>
                  <c:pt idx="13">
                    <c:v>D14</c:v>
                  </c:pt>
                </c:lvl>
              </c:multiLvlStrCache>
            </c:multiLvlStrRef>
          </c:cat>
          <c:val>
            <c:numRef>
              <c:f>Sheet1!$C$2:$C$15</c:f>
              <c:numCache>
                <c:formatCode>General</c:formatCode>
                <c:ptCount val="14"/>
                <c:pt idx="0">
                  <c:v>20</c:v>
                </c:pt>
                <c:pt idx="1">
                  <c:v>20</c:v>
                </c:pt>
                <c:pt idx="2">
                  <c:v>20</c:v>
                </c:pt>
                <c:pt idx="3">
                  <c:v>20</c:v>
                </c:pt>
                <c:pt idx="4">
                  <c:v>20</c:v>
                </c:pt>
                <c:pt idx="5">
                  <c:v>20</c:v>
                </c:pt>
                <c:pt idx="6">
                  <c:v>20</c:v>
                </c:pt>
                <c:pt idx="7">
                  <c:v>20</c:v>
                </c:pt>
                <c:pt idx="8">
                  <c:v>20</c:v>
                </c:pt>
                <c:pt idx="9">
                  <c:v>20</c:v>
                </c:pt>
                <c:pt idx="10">
                  <c:v>20</c:v>
                </c:pt>
                <c:pt idx="11">
                  <c:v>20</c:v>
                </c:pt>
                <c:pt idx="12">
                  <c:v>20</c:v>
                </c:pt>
                <c:pt idx="13">
                  <c:v>20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7C76"/>
                </a:solidFill>
                <a:latin typeface="+mn-lt"/>
              </a:defRPr>
            </a:pPr>
            <a:endParaRPr lang="en-US"/>
          </a:p>
        </c:txPr>
        <c:crossAx val="2094734552"/>
        <c:crosses val="autoZero"/>
        <c:auto val="1"/>
        <c:lblAlgn val="ctr"/>
        <c:noMultiLvlLbl val="1"/>
      </c:catAx>
      <c:valAx>
        <c:axId val="2094734552"/>
        <c:scaling>
          <c:orientation val="minMax"/>
          <c:max val="26"/>
          <c:min val="12"/>
        </c:scaling>
        <c:delete val="0"/>
        <c:axPos val="l"/>
        <c:majorGridlines>
          <c:spPr>
            <a:ln w="9525" cap="flat">
              <a:solidFill>
                <a:srgbClr val="E3EA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C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2B2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StockSense helps small store owners decide when to reorder and how much to order. The card on the right previews the final output: a ranked order list with exact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 failure modes: stockouts on fast movers and dead stock on slow or perishable items. The goal is a clear answer to when to reorder and how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from the owner's point of view. Stress that data is validated first so the forecast is not built on bad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demand is a simple moving average, which is easy to explain to a shop owner. Safety stock covers day-to-day variation using the standard deviation of sales. The chart uses illustrative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cards in the example reuse the numbers from the project's original illustrative calculation. The shelf-life cap matters for perishables: for Curd 500g the raw order is 19, but the cap is 15, so we order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output. Bread and Curd are both critical, but Bread ranks first because more profit is at stake. Curd's order of 15 is capped by shelf life (raw order was 19). All values are illustrative, not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lightweight so it runs on a normal laptop. Advanced machine learning is not claimed; the method is simple and explainable. WAPE and MAE are used to report honest forecast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takeaway: stock smarter, waste less, grow better. Be honest about limits, and say the next step is testing with real shop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035040" cy="23774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4023360"/>
            <a:ext cx="5669280" cy="914400"/>
          </a:xfrm>
          <a:prstGeom prst="rect">
            <a:avLst/>
          </a:prstGeom>
          <a:noFill/>
          <a:ln/>
        </p:spPr>
        <p:txBody>
          <a:bodyPr wrap="square" rtlCol="0"/>
          <a:lstStyle>
            <a:lvl1pPr algn="l" indent="0" marL="0">
              <a:buNone/>
              <a:defRPr lang="en-US" sz="1800" dirty="0">
                <a:solidFill>
                  <a:schemeClr val="accent4"/>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100" dirty="0">
                <a:solidFill>
                  <a:schemeClr val="accent5"/>
                </a:solidFill>
              </a:rPr>
              <a:t>StockSense · Team Kioo</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035040" cy="2377440"/>
          </a:xfrm>
          <a:prstGeom prst="rect">
            <a:avLst/>
          </a:prstGeom>
          <a:noFill/>
          <a:ln/>
        </p:spPr>
        <p:txBody>
          <a:bodyPr wrap="square" lIns="0" tIns="0" rIns="0" bIns="0" rtlCol="0" anchor="t"/>
          <a:lstStyle/>
          <a:p>
            <a:pPr algn="l" indent="0" marL="0">
              <a:buNone/>
            </a:pPr>
            <a:r>
              <a:rPr lang="en-US" sz="4400" b="1" dirty="0">
                <a:solidFill>
                  <a:schemeClr val="bg1"/>
                </a:solidFill>
              </a:rPr>
              <a:t>StockSense: Small-Retail Reorder Planner</a:t>
            </a:r>
            <a:endParaRPr lang="en-US" sz="4400" dirty="0"/>
          </a:p>
        </p:txBody>
      </p:sp>
      <p:sp>
        <p:nvSpPr>
          <p:cNvPr id="3" name="Text 0"/>
          <p:cNvSpPr/>
          <p:nvPr>
            <p:ph idx="101" type="body" hasCustomPrompt="1"/>
          </p:nvPr>
        </p:nvSpPr>
        <p:spPr>
          <a:xfrm>
            <a:off x="731520" y="4023360"/>
            <a:ext cx="5669280" cy="914400"/>
          </a:xfrm>
          <a:prstGeom prst="rect">
            <a:avLst/>
          </a:prstGeom>
          <a:noFill/>
          <a:ln/>
        </p:spPr>
        <p:txBody>
          <a:bodyPr wrap="square" lIns="0" tIns="0" rIns="0" bIns="0" rtlCol="0" anchor="t"/>
          <a:lstStyle/>
          <a:p>
            <a:pPr algn="l" indent="0" marL="0">
              <a:buNone/>
            </a:pPr>
            <a:r>
              <a:rPr lang="en-US" sz="1800" dirty="0">
                <a:solidFill>
                  <a:schemeClr val="accent4"/>
                </a:solidFill>
              </a:rPr>
              <a:t>Forecast demand per product. Respect lead time and shelf life. Order exactly what is needed.</a:t>
            </a:r>
            <a:endParaRPr lang="en-US" sz="1800" dirty="0"/>
          </a:p>
        </p:txBody>
      </p:sp>
      <p:sp>
        <p:nvSpPr>
          <p:cNvPr id="4" name="Text 2"/>
          <p:cNvSpPr txBox="1"/>
          <p:nvPr/>
        </p:nvSpPr>
        <p:spPr>
          <a:xfrm>
            <a:off x="731520" y="5486400"/>
            <a:ext cx="5943600" cy="640080"/>
          </a:xfrm>
          <a:prstGeom prst="rect">
            <a:avLst/>
          </a:prstGeom>
          <a:noFill/>
          <a:ln/>
        </p:spPr>
        <p:txBody>
          <a:bodyPr wrap="square" lIns="0" tIns="0" rIns="0" bIns="0" rtlCol="0" anchor="t"/>
          <a:lstStyle/>
          <a:p>
            <a:pPr indent="0" marL="0">
              <a:buNone/>
            </a:pPr>
            <a:r>
              <a:rPr lang="en-US" sz="1400" b="1" dirty="0">
                <a:solidFill>
                  <a:schemeClr val="accent6"/>
                </a:solidFill>
              </a:rPr>
              <a:t>Team Kioo</a:t>
            </a:r>
            <a:endParaRPr lang="en-US" sz="1400" dirty="0"/>
          </a:p>
          <a:p>
            <a:pPr indent="0" marL="0">
              <a:buNone/>
            </a:pPr>
            <a:r>
              <a:rPr lang="en-US" sz="1400" dirty="0">
                <a:solidFill>
                  <a:schemeClr val="accent6"/>
                </a:solidFill>
              </a:rPr>
              <a:t>Manoj V · Md Sajid · Hariharan S</a:t>
            </a:r>
            <a:endParaRPr lang="en-US" sz="1400" dirty="0"/>
          </a:p>
        </p:txBody>
      </p:sp>
      <p:sp>
        <p:nvSpPr>
          <p:cNvPr id="5" name="Mini order list card"/>
          <p:cNvSpPr/>
          <p:nvPr/>
        </p:nvSpPr>
        <p:spPr>
          <a:xfrm>
            <a:off x="7315200" y="1371600"/>
            <a:ext cx="4297680" cy="4114800"/>
          </a:xfrm>
          <a:prstGeom prst="roundRect">
            <a:avLst>
              <a:gd name="adj" fmla="val 2667"/>
            </a:avLst>
          </a:prstGeom>
          <a:solidFill>
            <a:schemeClr val="bg1"/>
          </a:solidFill>
          <a:ln w="9525">
            <a:solidFill>
              <a:schemeClr val="accent4"/>
            </a:solidFill>
            <a:prstDash val="solid"/>
          </a:ln>
        </p:spPr>
      </p:sp>
      <p:sp>
        <p:nvSpPr>
          <p:cNvPr id="6" name="Text 4"/>
          <p:cNvSpPr txBox="1"/>
          <p:nvPr/>
        </p:nvSpPr>
        <p:spPr>
          <a:xfrm>
            <a:off x="7680960" y="1691640"/>
            <a:ext cx="3566160" cy="274320"/>
          </a:xfrm>
          <a:prstGeom prst="rect">
            <a:avLst/>
          </a:prstGeom>
          <a:noFill/>
          <a:ln/>
        </p:spPr>
        <p:txBody>
          <a:bodyPr wrap="square" lIns="0" tIns="0" rIns="0" bIns="0" rtlCol="0" anchor="t"/>
          <a:lstStyle/>
          <a:p>
            <a:pPr indent="0" marL="0">
              <a:buNone/>
            </a:pPr>
            <a:r>
              <a:rPr lang="en-US" sz="1200" b="1" dirty="0">
                <a:solidFill>
                  <a:schemeClr val="accent1"/>
                </a:solidFill>
              </a:rPr>
              <a:t>TODAY'S ORDER LIST</a:t>
            </a:r>
            <a:endParaRPr lang="en-US" sz="1200" dirty="0"/>
          </a:p>
        </p:txBody>
      </p:sp>
      <p:sp>
        <p:nvSpPr>
          <p:cNvPr id="7" name="Mini row 1"/>
          <p:cNvSpPr/>
          <p:nvPr/>
        </p:nvSpPr>
        <p:spPr>
          <a:xfrm>
            <a:off x="7680960" y="2148840"/>
            <a:ext cx="3566160" cy="640080"/>
          </a:xfrm>
          <a:prstGeom prst="roundRect">
            <a:avLst>
              <a:gd name="adj" fmla="val 11429"/>
            </a:avLst>
          </a:prstGeom>
          <a:solidFill>
            <a:schemeClr val="bg2"/>
          </a:solidFill>
          <a:ln w="6350">
            <a:solidFill>
              <a:schemeClr val="bg2"/>
            </a:solidFill>
            <a:prstDash val="solid"/>
          </a:ln>
        </p:spPr>
      </p:sp>
      <p:sp>
        <p:nvSpPr>
          <p:cNvPr id="8" name="Text 6"/>
          <p:cNvSpPr txBox="1"/>
          <p:nvPr/>
        </p:nvSpPr>
        <p:spPr>
          <a:xfrm>
            <a:off x="7818120" y="2313432"/>
            <a:ext cx="274320" cy="320040"/>
          </a:xfrm>
          <a:prstGeom prst="rect">
            <a:avLst/>
          </a:prstGeom>
          <a:noFill/>
          <a:ln/>
        </p:spPr>
        <p:txBody>
          <a:bodyPr wrap="square" lIns="0" tIns="0" rIns="0" bIns="0" rtlCol="0" anchor="t"/>
          <a:lstStyle/>
          <a:p>
            <a:pPr indent="0" marL="0">
              <a:buNone/>
            </a:pPr>
            <a:r>
              <a:rPr lang="en-US" sz="1600" b="1" dirty="0">
                <a:solidFill>
                  <a:schemeClr val="accent1"/>
                </a:solidFill>
              </a:rPr>
              <a:t>1</a:t>
            </a:r>
            <a:endParaRPr lang="en-US" sz="1600" dirty="0"/>
          </a:p>
        </p:txBody>
      </p:sp>
      <p:sp>
        <p:nvSpPr>
          <p:cNvPr id="9" name="Text 7"/>
          <p:cNvSpPr txBox="1"/>
          <p:nvPr/>
        </p:nvSpPr>
        <p:spPr>
          <a:xfrm>
            <a:off x="8183880" y="2240280"/>
            <a:ext cx="1645920" cy="274320"/>
          </a:xfrm>
          <a:prstGeom prst="rect">
            <a:avLst/>
          </a:prstGeom>
          <a:noFill/>
          <a:ln/>
        </p:spPr>
        <p:txBody>
          <a:bodyPr wrap="square" lIns="0" tIns="0" rIns="0" bIns="0" rtlCol="0" anchor="t"/>
          <a:lstStyle/>
          <a:p>
            <a:pPr indent="0" marL="0">
              <a:buNone/>
            </a:pPr>
            <a:r>
              <a:rPr lang="en-US" sz="1400" b="1" dirty="0">
                <a:solidFill>
                  <a:schemeClr val="tx1"/>
                </a:solidFill>
              </a:rPr>
              <a:t>Bread Loaf</a:t>
            </a:r>
            <a:endParaRPr lang="en-US" sz="1400" dirty="0"/>
          </a:p>
        </p:txBody>
      </p:sp>
      <p:sp>
        <p:nvSpPr>
          <p:cNvPr id="10" name="Text 8"/>
          <p:cNvSpPr txBox="1"/>
          <p:nvPr/>
        </p:nvSpPr>
        <p:spPr>
          <a:xfrm>
            <a:off x="8183880" y="2496312"/>
            <a:ext cx="1645920" cy="228600"/>
          </a:xfrm>
          <a:prstGeom prst="rect">
            <a:avLst/>
          </a:prstGeom>
          <a:noFill/>
          <a:ln/>
        </p:spPr>
        <p:txBody>
          <a:bodyPr wrap="square" lIns="0" tIns="0" rIns="0" bIns="0" rtlCol="0" anchor="t"/>
          <a:lstStyle/>
          <a:p>
            <a:pPr indent="0" marL="0">
              <a:buNone/>
            </a:pPr>
            <a:r>
              <a:rPr lang="en-US" sz="1100" dirty="0">
                <a:solidFill>
                  <a:schemeClr val="accent5"/>
                </a:solidFill>
              </a:rPr>
              <a:t>Critical</a:t>
            </a:r>
            <a:endParaRPr lang="en-US" sz="1100" dirty="0"/>
          </a:p>
        </p:txBody>
      </p:sp>
      <p:sp>
        <p:nvSpPr>
          <p:cNvPr id="11" name="Text 9"/>
          <p:cNvSpPr txBox="1"/>
          <p:nvPr/>
        </p:nvSpPr>
        <p:spPr>
          <a:xfrm>
            <a:off x="9692640" y="2276856"/>
            <a:ext cx="1463040" cy="365760"/>
          </a:xfrm>
          <a:prstGeom prst="rect">
            <a:avLst/>
          </a:prstGeom>
          <a:noFill/>
          <a:ln/>
        </p:spPr>
        <p:txBody>
          <a:bodyPr wrap="square" lIns="0" tIns="0" rIns="0" bIns="0" rtlCol="0" anchor="ctr"/>
          <a:lstStyle/>
          <a:p>
            <a:pPr algn="r" indent="0" marL="0">
              <a:buNone/>
            </a:pPr>
            <a:r>
              <a:rPr lang="en-US" sz="1200" dirty="0">
                <a:solidFill>
                  <a:schemeClr val="accent5"/>
                </a:solidFill>
              </a:rPr>
              <a:t>Order </a:t>
            </a:r>
            <a:pPr algn="r" indent="0" marL="0">
              <a:buNone/>
            </a:pPr>
            <a:r>
              <a:rPr lang="en-US" sz="2000" b="1" dirty="0">
                <a:solidFill>
                  <a:schemeClr val="tx1"/>
                </a:solidFill>
              </a:rPr>
              <a:t>30</a:t>
            </a:r>
            <a:endParaRPr lang="en-US" sz="1200" dirty="0"/>
          </a:p>
        </p:txBody>
      </p:sp>
      <p:sp>
        <p:nvSpPr>
          <p:cNvPr id="12" name="Mini row 2"/>
          <p:cNvSpPr/>
          <p:nvPr/>
        </p:nvSpPr>
        <p:spPr>
          <a:xfrm>
            <a:off x="7680960" y="2926080"/>
            <a:ext cx="3566160" cy="640080"/>
          </a:xfrm>
          <a:prstGeom prst="roundRect">
            <a:avLst>
              <a:gd name="adj" fmla="val 11429"/>
            </a:avLst>
          </a:prstGeom>
          <a:solidFill>
            <a:schemeClr val="bg2"/>
          </a:solidFill>
          <a:ln w="6350">
            <a:solidFill>
              <a:schemeClr val="bg2"/>
            </a:solidFill>
            <a:prstDash val="solid"/>
          </a:ln>
        </p:spPr>
      </p:sp>
      <p:sp>
        <p:nvSpPr>
          <p:cNvPr id="13" name="Text 11"/>
          <p:cNvSpPr txBox="1"/>
          <p:nvPr/>
        </p:nvSpPr>
        <p:spPr>
          <a:xfrm>
            <a:off x="7818120" y="3090672"/>
            <a:ext cx="274320" cy="320040"/>
          </a:xfrm>
          <a:prstGeom prst="rect">
            <a:avLst/>
          </a:prstGeom>
          <a:noFill/>
          <a:ln/>
        </p:spPr>
        <p:txBody>
          <a:bodyPr wrap="square" lIns="0" tIns="0" rIns="0" bIns="0" rtlCol="0" anchor="t"/>
          <a:lstStyle/>
          <a:p>
            <a:pPr indent="0" marL="0">
              <a:buNone/>
            </a:pPr>
            <a:r>
              <a:rPr lang="en-US" sz="1600" b="1" dirty="0">
                <a:solidFill>
                  <a:schemeClr val="accent1"/>
                </a:solidFill>
              </a:rPr>
              <a:t>2</a:t>
            </a:r>
            <a:endParaRPr lang="en-US" sz="1600" dirty="0"/>
          </a:p>
        </p:txBody>
      </p:sp>
      <p:sp>
        <p:nvSpPr>
          <p:cNvPr id="14" name="Text 12"/>
          <p:cNvSpPr txBox="1"/>
          <p:nvPr/>
        </p:nvSpPr>
        <p:spPr>
          <a:xfrm>
            <a:off x="8183880" y="3017520"/>
            <a:ext cx="1645920" cy="274320"/>
          </a:xfrm>
          <a:prstGeom prst="rect">
            <a:avLst/>
          </a:prstGeom>
          <a:noFill/>
          <a:ln/>
        </p:spPr>
        <p:txBody>
          <a:bodyPr wrap="square" lIns="0" tIns="0" rIns="0" bIns="0" rtlCol="0" anchor="t"/>
          <a:lstStyle/>
          <a:p>
            <a:pPr indent="0" marL="0">
              <a:buNone/>
            </a:pPr>
            <a:r>
              <a:rPr lang="en-US" sz="1400" b="1" dirty="0">
                <a:solidFill>
                  <a:schemeClr val="tx1"/>
                </a:solidFill>
              </a:rPr>
              <a:t>Curd 500g</a:t>
            </a:r>
            <a:endParaRPr lang="en-US" sz="1400" dirty="0"/>
          </a:p>
        </p:txBody>
      </p:sp>
      <p:sp>
        <p:nvSpPr>
          <p:cNvPr id="15" name="Text 13"/>
          <p:cNvSpPr txBox="1"/>
          <p:nvPr/>
        </p:nvSpPr>
        <p:spPr>
          <a:xfrm>
            <a:off x="8183880" y="3273552"/>
            <a:ext cx="1645920" cy="228600"/>
          </a:xfrm>
          <a:prstGeom prst="rect">
            <a:avLst/>
          </a:prstGeom>
          <a:noFill/>
          <a:ln/>
        </p:spPr>
        <p:txBody>
          <a:bodyPr wrap="square" lIns="0" tIns="0" rIns="0" bIns="0" rtlCol="0" anchor="t"/>
          <a:lstStyle/>
          <a:p>
            <a:pPr indent="0" marL="0">
              <a:buNone/>
            </a:pPr>
            <a:r>
              <a:rPr lang="en-US" sz="1100" dirty="0">
                <a:solidFill>
                  <a:schemeClr val="accent5"/>
                </a:solidFill>
              </a:rPr>
              <a:t>Critical</a:t>
            </a:r>
            <a:endParaRPr lang="en-US" sz="1100" dirty="0"/>
          </a:p>
        </p:txBody>
      </p:sp>
      <p:sp>
        <p:nvSpPr>
          <p:cNvPr id="16" name="Text 14"/>
          <p:cNvSpPr txBox="1"/>
          <p:nvPr/>
        </p:nvSpPr>
        <p:spPr>
          <a:xfrm>
            <a:off x="9692640" y="3054096"/>
            <a:ext cx="1463040" cy="365760"/>
          </a:xfrm>
          <a:prstGeom prst="rect">
            <a:avLst/>
          </a:prstGeom>
          <a:noFill/>
          <a:ln/>
        </p:spPr>
        <p:txBody>
          <a:bodyPr wrap="square" lIns="0" tIns="0" rIns="0" bIns="0" rtlCol="0" anchor="ctr"/>
          <a:lstStyle/>
          <a:p>
            <a:pPr algn="r" indent="0" marL="0">
              <a:buNone/>
            </a:pPr>
            <a:r>
              <a:rPr lang="en-US" sz="1200" dirty="0">
                <a:solidFill>
                  <a:schemeClr val="accent5"/>
                </a:solidFill>
              </a:rPr>
              <a:t>Order </a:t>
            </a:r>
            <a:pPr algn="r" indent="0" marL="0">
              <a:buNone/>
            </a:pPr>
            <a:r>
              <a:rPr lang="en-US" sz="2000" b="1" dirty="0">
                <a:solidFill>
                  <a:schemeClr val="tx1"/>
                </a:solidFill>
              </a:rPr>
              <a:t>15</a:t>
            </a:r>
            <a:endParaRPr lang="en-US" sz="1200" dirty="0"/>
          </a:p>
        </p:txBody>
      </p:sp>
      <p:sp>
        <p:nvSpPr>
          <p:cNvPr id="17" name="Mini row 3"/>
          <p:cNvSpPr/>
          <p:nvPr/>
        </p:nvSpPr>
        <p:spPr>
          <a:xfrm>
            <a:off x="7680960" y="3703320"/>
            <a:ext cx="3566160" cy="640080"/>
          </a:xfrm>
          <a:prstGeom prst="roundRect">
            <a:avLst>
              <a:gd name="adj" fmla="val 11429"/>
            </a:avLst>
          </a:prstGeom>
          <a:solidFill>
            <a:schemeClr val="bg2"/>
          </a:solidFill>
          <a:ln w="6350">
            <a:solidFill>
              <a:schemeClr val="bg2"/>
            </a:solidFill>
            <a:prstDash val="solid"/>
          </a:ln>
        </p:spPr>
      </p:sp>
      <p:sp>
        <p:nvSpPr>
          <p:cNvPr id="18" name="Text 16"/>
          <p:cNvSpPr txBox="1"/>
          <p:nvPr/>
        </p:nvSpPr>
        <p:spPr>
          <a:xfrm>
            <a:off x="7818120" y="3867912"/>
            <a:ext cx="274320" cy="320040"/>
          </a:xfrm>
          <a:prstGeom prst="rect">
            <a:avLst/>
          </a:prstGeom>
          <a:noFill/>
          <a:ln/>
        </p:spPr>
        <p:txBody>
          <a:bodyPr wrap="square" lIns="0" tIns="0" rIns="0" bIns="0" rtlCol="0" anchor="t"/>
          <a:lstStyle/>
          <a:p>
            <a:pPr indent="0" marL="0">
              <a:buNone/>
            </a:pPr>
            <a:r>
              <a:rPr lang="en-US" sz="1600" b="1" dirty="0">
                <a:solidFill>
                  <a:schemeClr val="accent1"/>
                </a:solidFill>
              </a:rPr>
              <a:t>3</a:t>
            </a:r>
            <a:endParaRPr lang="en-US" sz="1600" dirty="0"/>
          </a:p>
        </p:txBody>
      </p:sp>
      <p:sp>
        <p:nvSpPr>
          <p:cNvPr id="19" name="Text 17"/>
          <p:cNvSpPr txBox="1"/>
          <p:nvPr/>
        </p:nvSpPr>
        <p:spPr>
          <a:xfrm>
            <a:off x="8183880" y="3794760"/>
            <a:ext cx="1645920" cy="274320"/>
          </a:xfrm>
          <a:prstGeom prst="rect">
            <a:avLst/>
          </a:prstGeom>
          <a:noFill/>
          <a:ln/>
        </p:spPr>
        <p:txBody>
          <a:bodyPr wrap="square" lIns="0" tIns="0" rIns="0" bIns="0" rtlCol="0" anchor="t"/>
          <a:lstStyle/>
          <a:p>
            <a:pPr indent="0" marL="0">
              <a:buNone/>
            </a:pPr>
            <a:r>
              <a:rPr lang="en-US" sz="1400" b="1" dirty="0">
                <a:solidFill>
                  <a:schemeClr val="tx1"/>
                </a:solidFill>
              </a:rPr>
              <a:t>Milk 1L</a:t>
            </a:r>
            <a:endParaRPr lang="en-US" sz="1400" dirty="0"/>
          </a:p>
        </p:txBody>
      </p:sp>
      <p:sp>
        <p:nvSpPr>
          <p:cNvPr id="20" name="Text 18"/>
          <p:cNvSpPr txBox="1"/>
          <p:nvPr/>
        </p:nvSpPr>
        <p:spPr>
          <a:xfrm>
            <a:off x="8183880" y="4050792"/>
            <a:ext cx="1645920" cy="228600"/>
          </a:xfrm>
          <a:prstGeom prst="rect">
            <a:avLst/>
          </a:prstGeom>
          <a:noFill/>
          <a:ln/>
        </p:spPr>
        <p:txBody>
          <a:bodyPr wrap="square" lIns="0" tIns="0" rIns="0" bIns="0" rtlCol="0" anchor="t"/>
          <a:lstStyle/>
          <a:p>
            <a:pPr indent="0" marL="0">
              <a:buNone/>
            </a:pPr>
            <a:r>
              <a:rPr lang="en-US" sz="1100" dirty="0">
                <a:solidFill>
                  <a:schemeClr val="accent5"/>
                </a:solidFill>
              </a:rPr>
              <a:t>Order soon</a:t>
            </a:r>
            <a:endParaRPr lang="en-US" sz="1100" dirty="0"/>
          </a:p>
        </p:txBody>
      </p:sp>
      <p:sp>
        <p:nvSpPr>
          <p:cNvPr id="21" name="Text 19"/>
          <p:cNvSpPr txBox="1"/>
          <p:nvPr/>
        </p:nvSpPr>
        <p:spPr>
          <a:xfrm>
            <a:off x="9692640" y="3831336"/>
            <a:ext cx="1463040" cy="365760"/>
          </a:xfrm>
          <a:prstGeom prst="rect">
            <a:avLst/>
          </a:prstGeom>
          <a:noFill/>
          <a:ln/>
        </p:spPr>
        <p:txBody>
          <a:bodyPr wrap="square" lIns="0" tIns="0" rIns="0" bIns="0" rtlCol="0" anchor="ctr"/>
          <a:lstStyle/>
          <a:p>
            <a:pPr algn="r" indent="0" marL="0">
              <a:buNone/>
            </a:pPr>
            <a:r>
              <a:rPr lang="en-US" sz="1200" dirty="0">
                <a:solidFill>
                  <a:schemeClr val="accent5"/>
                </a:solidFill>
              </a:rPr>
              <a:t>Order </a:t>
            </a:r>
            <a:pPr algn="r" indent="0" marL="0">
              <a:buNone/>
            </a:pPr>
            <a:r>
              <a:rPr lang="en-US" sz="2000" b="1" dirty="0">
                <a:solidFill>
                  <a:schemeClr val="tx1"/>
                </a:solidFill>
              </a:rPr>
              <a:t>6</a:t>
            </a:r>
            <a:endParaRPr lang="en-US" sz="1200" dirty="0"/>
          </a:p>
        </p:txBody>
      </p:sp>
      <p:sp>
        <p:nvSpPr>
          <p:cNvPr id="22" name="Mini row 4"/>
          <p:cNvSpPr/>
          <p:nvPr/>
        </p:nvSpPr>
        <p:spPr>
          <a:xfrm>
            <a:off x="7680960" y="4480560"/>
            <a:ext cx="3566160" cy="640080"/>
          </a:xfrm>
          <a:prstGeom prst="roundRect">
            <a:avLst>
              <a:gd name="adj" fmla="val 11429"/>
            </a:avLst>
          </a:prstGeom>
          <a:solidFill>
            <a:schemeClr val="bg2"/>
          </a:solidFill>
          <a:ln w="6350">
            <a:solidFill>
              <a:schemeClr val="bg2"/>
            </a:solidFill>
            <a:prstDash val="solid"/>
          </a:ln>
        </p:spPr>
      </p:sp>
      <p:sp>
        <p:nvSpPr>
          <p:cNvPr id="23" name="Text 21"/>
          <p:cNvSpPr txBox="1"/>
          <p:nvPr/>
        </p:nvSpPr>
        <p:spPr>
          <a:xfrm>
            <a:off x="7818120" y="4645152"/>
            <a:ext cx="274320" cy="320040"/>
          </a:xfrm>
          <a:prstGeom prst="rect">
            <a:avLst/>
          </a:prstGeom>
          <a:noFill/>
          <a:ln/>
        </p:spPr>
        <p:txBody>
          <a:bodyPr wrap="square" lIns="0" tIns="0" rIns="0" bIns="0" rtlCol="0" anchor="t"/>
          <a:lstStyle/>
          <a:p>
            <a:pPr indent="0" marL="0">
              <a:buNone/>
            </a:pPr>
            <a:r>
              <a:rPr lang="en-US" sz="1600" b="1" dirty="0">
                <a:solidFill>
                  <a:schemeClr val="accent1"/>
                </a:solidFill>
              </a:rPr>
              <a:t>4</a:t>
            </a:r>
            <a:endParaRPr lang="en-US" sz="1600" dirty="0"/>
          </a:p>
        </p:txBody>
      </p:sp>
      <p:sp>
        <p:nvSpPr>
          <p:cNvPr id="24" name="Text 22"/>
          <p:cNvSpPr txBox="1"/>
          <p:nvPr/>
        </p:nvSpPr>
        <p:spPr>
          <a:xfrm>
            <a:off x="8183880" y="4572000"/>
            <a:ext cx="1645920" cy="274320"/>
          </a:xfrm>
          <a:prstGeom prst="rect">
            <a:avLst/>
          </a:prstGeom>
          <a:noFill/>
          <a:ln/>
        </p:spPr>
        <p:txBody>
          <a:bodyPr wrap="square" lIns="0" tIns="0" rIns="0" bIns="0" rtlCol="0" anchor="t"/>
          <a:lstStyle/>
          <a:p>
            <a:pPr indent="0" marL="0">
              <a:buNone/>
            </a:pPr>
            <a:r>
              <a:rPr lang="en-US" sz="1400" b="1" dirty="0">
                <a:solidFill>
                  <a:schemeClr val="tx1"/>
                </a:solidFill>
              </a:rPr>
              <a:t>Rice 2kg</a:t>
            </a:r>
            <a:endParaRPr lang="en-US" sz="1400" dirty="0"/>
          </a:p>
        </p:txBody>
      </p:sp>
      <p:sp>
        <p:nvSpPr>
          <p:cNvPr id="25" name="Text 23"/>
          <p:cNvSpPr txBox="1"/>
          <p:nvPr/>
        </p:nvSpPr>
        <p:spPr>
          <a:xfrm>
            <a:off x="8183880" y="4828032"/>
            <a:ext cx="1645920" cy="228600"/>
          </a:xfrm>
          <a:prstGeom prst="rect">
            <a:avLst/>
          </a:prstGeom>
          <a:noFill/>
          <a:ln/>
        </p:spPr>
        <p:txBody>
          <a:bodyPr wrap="square" lIns="0" tIns="0" rIns="0" bIns="0" rtlCol="0" anchor="t"/>
          <a:lstStyle/>
          <a:p>
            <a:pPr indent="0" marL="0">
              <a:buNone/>
            </a:pPr>
            <a:r>
              <a:rPr lang="en-US" sz="1100" dirty="0">
                <a:solidFill>
                  <a:schemeClr val="accent5"/>
                </a:solidFill>
              </a:rPr>
              <a:t>Hold</a:t>
            </a:r>
            <a:endParaRPr lang="en-US" sz="1100" dirty="0"/>
          </a:p>
        </p:txBody>
      </p:sp>
      <p:sp>
        <p:nvSpPr>
          <p:cNvPr id="26" name="Text 24"/>
          <p:cNvSpPr txBox="1"/>
          <p:nvPr/>
        </p:nvSpPr>
        <p:spPr>
          <a:xfrm>
            <a:off x="9692640" y="4608576"/>
            <a:ext cx="1463040" cy="365760"/>
          </a:xfrm>
          <a:prstGeom prst="rect">
            <a:avLst/>
          </a:prstGeom>
          <a:noFill/>
          <a:ln/>
        </p:spPr>
        <p:txBody>
          <a:bodyPr wrap="square" lIns="0" tIns="0" rIns="0" bIns="0" rtlCol="0" anchor="ctr"/>
          <a:lstStyle/>
          <a:p>
            <a:pPr algn="r" indent="0" marL="0">
              <a:buNone/>
            </a:pPr>
            <a:r>
              <a:rPr lang="en-US" sz="1200" dirty="0">
                <a:solidFill>
                  <a:schemeClr val="accent5"/>
                </a:solidFill>
              </a:rPr>
              <a:t>Order </a:t>
            </a:r>
            <a:pPr algn="r" indent="0" marL="0">
              <a:buNone/>
            </a:pPr>
            <a:r>
              <a:rPr lang="en-US" sz="2000" b="1" dirty="0">
                <a:solidFill>
                  <a:schemeClr val="tx1"/>
                </a:solidFill>
              </a:rPr>
              <a:t>0</a:t>
            </a:r>
            <a:endParaRPr lang="en-US" sz="1200" dirty="0"/>
          </a:p>
        </p:txBody>
      </p:sp>
      <p:sp>
        <p:nvSpPr>
          <p:cNvPr id="27" name="Text 25"/>
          <p:cNvSpPr txBox="1"/>
          <p:nvPr/>
        </p:nvSpPr>
        <p:spPr>
          <a:xfrm>
            <a:off x="7680960" y="5138928"/>
            <a:ext cx="3566160" cy="228600"/>
          </a:xfrm>
          <a:prstGeom prst="rect">
            <a:avLst/>
          </a:prstGeom>
          <a:noFill/>
          <a:ln/>
        </p:spPr>
        <p:txBody>
          <a:bodyPr wrap="square" lIns="0" tIns="0" rIns="0" bIns="0" rtlCol="0" anchor="t"/>
          <a:lstStyle/>
          <a:p>
            <a:pPr indent="0" marL="0">
              <a:buNone/>
            </a:pPr>
            <a:r>
              <a:rPr lang="en-US" sz="1100" dirty="0">
                <a:solidFill>
                  <a:schemeClr val="accent5"/>
                </a:solidFill>
              </a:rPr>
              <a:t>Illustrative values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Ordering by memory costs sales and cash</a:t>
            </a:r>
            <a:endParaRPr lang="en-US" sz="3200" dirty="0"/>
          </a:p>
        </p:txBody>
      </p:sp>
      <p:sp>
        <p:nvSpPr>
          <p:cNvPr id="3" name="Problem card"/>
          <p:cNvSpPr/>
          <p:nvPr/>
        </p:nvSpPr>
        <p:spPr>
          <a:xfrm>
            <a:off x="548640" y="1554480"/>
            <a:ext cx="5394960" cy="3566160"/>
          </a:xfrm>
          <a:prstGeom prst="roundRect">
            <a:avLst>
              <a:gd name="adj" fmla="val 3077"/>
            </a:avLst>
          </a:prstGeom>
          <a:solidFill>
            <a:schemeClr val="bg1"/>
          </a:solidFill>
          <a:ln w="9525">
            <a:solidFill>
              <a:schemeClr val="accent4"/>
            </a:solidFill>
            <a:prstDash val="solid"/>
          </a:ln>
        </p:spPr>
      </p:sp>
      <p:sp>
        <p:nvSpPr>
          <p:cNvPr id="4" name="Text 2"/>
          <p:cNvSpPr txBox="1"/>
          <p:nvPr/>
        </p:nvSpPr>
        <p:spPr>
          <a:xfrm>
            <a:off x="914400" y="1828800"/>
            <a:ext cx="4572000" cy="274320"/>
          </a:xfrm>
          <a:prstGeom prst="rect">
            <a:avLst/>
          </a:prstGeom>
          <a:noFill/>
          <a:ln/>
        </p:spPr>
        <p:txBody>
          <a:bodyPr wrap="square" lIns="0" tIns="0" rIns="0" bIns="0" rtlCol="0" anchor="t"/>
          <a:lstStyle/>
          <a:p>
            <a:pPr indent="0" marL="0">
              <a:buNone/>
            </a:pPr>
            <a:r>
              <a:rPr lang="en-US" sz="1200" b="1" dirty="0">
                <a:solidFill>
                  <a:schemeClr val="accent1"/>
                </a:solidFill>
              </a:rPr>
              <a:t>THE PROBLEM</a:t>
            </a:r>
            <a:endParaRPr lang="en-US" sz="1200" dirty="0"/>
          </a:p>
        </p:txBody>
      </p:sp>
      <p:sp>
        <p:nvSpPr>
          <p:cNvPr id="5" name="Step !"/>
          <p:cNvSpPr txBox="1"/>
          <p:nvPr/>
        </p:nvSpPr>
        <p:spPr>
          <a:xfrm>
            <a:off x="914400" y="2286000"/>
            <a:ext cx="548640" cy="54864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Text 4"/>
          <p:cNvSpPr txBox="1"/>
          <p:nvPr/>
        </p:nvSpPr>
        <p:spPr>
          <a:xfrm>
            <a:off x="1645920" y="2240280"/>
            <a:ext cx="4023360" cy="1097280"/>
          </a:xfrm>
          <a:prstGeom prst="rect">
            <a:avLst/>
          </a:prstGeom>
          <a:noFill/>
          <a:ln/>
        </p:spPr>
        <p:txBody>
          <a:bodyPr wrap="square" lIns="0" tIns="0" rIns="0" bIns="0" rtlCol="0" anchor="t"/>
          <a:lstStyle/>
          <a:p>
            <a:pPr indent="0" marL="0">
              <a:buNone/>
            </a:pPr>
            <a:r>
              <a:rPr lang="en-US" sz="1800" b="1" dirty="0">
                <a:solidFill>
                  <a:schemeClr val="tx1"/>
                </a:solidFill>
              </a:rPr>
              <a:t>Stockouts</a:t>
            </a:r>
            <a:endParaRPr lang="en-US" sz="1800" dirty="0"/>
          </a:p>
          <a:p>
            <a:pPr indent="0" marL="0">
              <a:buNone/>
            </a:pPr>
            <a:r>
              <a:rPr lang="en-US" sz="1400" dirty="0">
                <a:solidFill>
                  <a:schemeClr val="tx1"/>
                </a:solidFill>
              </a:rPr>
              <a:t>Fast-moving items run out before the next delivery, so sales are lost.</a:t>
            </a:r>
            <a:endParaRPr lang="en-US" sz="1800" dirty="0"/>
          </a:p>
        </p:txBody>
      </p:sp>
      <p:sp>
        <p:nvSpPr>
          <p:cNvPr id="7" name="Step ₹"/>
          <p:cNvSpPr txBox="1"/>
          <p:nvPr/>
        </p:nvSpPr>
        <p:spPr>
          <a:xfrm>
            <a:off x="914400" y="3611880"/>
            <a:ext cx="548640" cy="54864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8" name="Text 6"/>
          <p:cNvSpPr txBox="1"/>
          <p:nvPr/>
        </p:nvSpPr>
        <p:spPr>
          <a:xfrm>
            <a:off x="1645920" y="3566160"/>
            <a:ext cx="4023360" cy="1097280"/>
          </a:xfrm>
          <a:prstGeom prst="rect">
            <a:avLst/>
          </a:prstGeom>
          <a:noFill/>
          <a:ln/>
        </p:spPr>
        <p:txBody>
          <a:bodyPr wrap="square" lIns="0" tIns="0" rIns="0" bIns="0" rtlCol="0" anchor="t"/>
          <a:lstStyle/>
          <a:p>
            <a:pPr indent="0" marL="0">
              <a:buNone/>
            </a:pPr>
            <a:r>
              <a:rPr lang="en-US" sz="1800" b="1" dirty="0">
                <a:solidFill>
                  <a:schemeClr val="tx1"/>
                </a:solidFill>
              </a:rPr>
              <a:t>Dead stock</a:t>
            </a:r>
            <a:endParaRPr lang="en-US" sz="1800" dirty="0"/>
          </a:p>
          <a:p>
            <a:pPr indent="0" marL="0">
              <a:buNone/>
            </a:pPr>
            <a:r>
              <a:rPr lang="en-US" sz="1400" dirty="0">
                <a:solidFill>
                  <a:schemeClr val="tx1"/>
                </a:solidFill>
              </a:rPr>
              <a:t>Slow or short-dated items sit on shelves, lock up cash and expire.</a:t>
            </a:r>
            <a:endParaRPr lang="en-US" sz="1800" dirty="0"/>
          </a:p>
        </p:txBody>
      </p:sp>
      <p:sp>
        <p:nvSpPr>
          <p:cNvPr id="9" name="Arrow"/>
          <p:cNvSpPr/>
          <p:nvPr/>
        </p:nvSpPr>
        <p:spPr>
          <a:xfrm>
            <a:off x="6053328" y="3017520"/>
            <a:ext cx="457200" cy="457200"/>
          </a:xfrm>
          <a:prstGeom prst="rightArrow">
            <a:avLst/>
          </a:prstGeom>
          <a:solidFill>
            <a:schemeClr val="accent1"/>
          </a:solidFill>
          <a:ln w="12700">
            <a:solidFill>
              <a:schemeClr val="accent1"/>
            </a:solidFill>
            <a:prstDash val="solid"/>
          </a:ln>
        </p:spPr>
      </p:sp>
      <p:sp>
        <p:nvSpPr>
          <p:cNvPr id="10" name="Solution card"/>
          <p:cNvSpPr/>
          <p:nvPr/>
        </p:nvSpPr>
        <p:spPr>
          <a:xfrm>
            <a:off x="6629400" y="1554480"/>
            <a:ext cx="5010912" cy="3566160"/>
          </a:xfrm>
          <a:prstGeom prst="roundRect">
            <a:avLst>
              <a:gd name="adj" fmla="val 3077"/>
            </a:avLst>
          </a:prstGeom>
          <a:solidFill>
            <a:schemeClr val="tx2"/>
          </a:solidFill>
          <a:ln w="9525">
            <a:solidFill>
              <a:schemeClr val="accent4"/>
            </a:solidFill>
            <a:prstDash val="solid"/>
          </a:ln>
        </p:spPr>
      </p:sp>
      <p:sp>
        <p:nvSpPr>
          <p:cNvPr id="11" name="Text 9"/>
          <p:cNvSpPr txBox="1"/>
          <p:nvPr/>
        </p:nvSpPr>
        <p:spPr>
          <a:xfrm>
            <a:off x="6995160" y="1828800"/>
            <a:ext cx="4297680" cy="274320"/>
          </a:xfrm>
          <a:prstGeom prst="rect">
            <a:avLst/>
          </a:prstGeom>
          <a:noFill/>
          <a:ln/>
        </p:spPr>
        <p:txBody>
          <a:bodyPr wrap="square" lIns="0" tIns="0" rIns="0" bIns="0" rtlCol="0" anchor="t"/>
          <a:lstStyle/>
          <a:p>
            <a:pPr indent="0" marL="0">
              <a:buNone/>
            </a:pPr>
            <a:r>
              <a:rPr lang="en-US" sz="1200" b="1" dirty="0">
                <a:solidFill>
                  <a:schemeClr val="accent6"/>
                </a:solidFill>
              </a:rPr>
              <a:t>WHAT WE BUILD</a:t>
            </a:r>
            <a:endParaRPr lang="en-US" sz="1200" dirty="0"/>
          </a:p>
        </p:txBody>
      </p:sp>
      <p:sp>
        <p:nvSpPr>
          <p:cNvPr id="12" name="Text 10"/>
          <p:cNvSpPr txBox="1"/>
          <p:nvPr/>
        </p:nvSpPr>
        <p:spPr>
          <a:xfrm>
            <a:off x="6995160" y="2286000"/>
            <a:ext cx="4297680" cy="1371600"/>
          </a:xfrm>
          <a:prstGeom prst="rect">
            <a:avLst/>
          </a:prstGeom>
          <a:noFill/>
          <a:ln/>
        </p:spPr>
        <p:txBody>
          <a:bodyPr wrap="square" lIns="0" tIns="0" rIns="0" bIns="0" rtlCol="0" anchor="t"/>
          <a:lstStyle/>
          <a:p>
            <a:pPr indent="0" marL="0">
              <a:buNone/>
            </a:pPr>
            <a:r>
              <a:rPr lang="en-US" sz="2000" b="1" dirty="0">
                <a:solidFill>
                  <a:schemeClr val="bg1"/>
                </a:solidFill>
              </a:rPr>
              <a:t>A tool that forecasts demand per product and produces a ranked reorder list with exact unit quantities.</a:t>
            </a:r>
            <a:endParaRPr lang="en-US" sz="2000" dirty="0"/>
          </a:p>
        </p:txBody>
      </p:sp>
      <p:sp>
        <p:nvSpPr>
          <p:cNvPr id="13" name="Text 11"/>
          <p:cNvSpPr txBox="1"/>
          <p:nvPr/>
        </p:nvSpPr>
        <p:spPr>
          <a:xfrm>
            <a:off x="6995160" y="3703320"/>
            <a:ext cx="4297680" cy="1097280"/>
          </a:xfrm>
          <a:prstGeom prst="rect">
            <a:avLst/>
          </a:prstGeom>
          <a:noFill/>
          <a:ln/>
        </p:spPr>
        <p:txBody>
          <a:bodyPr wrap="square" lIns="0" tIns="0" rIns="0" bIns="0" rtlCol="0" anchor="t"/>
          <a:lstStyle/>
          <a:p>
            <a:pPr indent="0" marL="0">
              <a:buNone/>
            </a:pPr>
            <a:r>
              <a:rPr lang="en-US" sz="1400" dirty="0">
                <a:solidFill>
                  <a:schemeClr val="accent4"/>
                </a:solidFill>
              </a:rPr>
              <a:t>It respects supplier lead time and shelf life, so the most urgent and most profitable items come first.</a:t>
            </a:r>
            <a:endParaRPr lang="en-US" sz="1400" dirty="0"/>
          </a:p>
        </p:txBody>
      </p:sp>
      <p:sp>
        <p:nvSpPr>
          <p:cNvPr id="14" name="Two questions strip"/>
          <p:cNvSpPr/>
          <p:nvPr/>
        </p:nvSpPr>
        <p:spPr>
          <a:xfrm>
            <a:off x="548640" y="5394960"/>
            <a:ext cx="11091672" cy="777240"/>
          </a:xfrm>
          <a:prstGeom prst="roundRect">
            <a:avLst>
              <a:gd name="adj" fmla="val 14118"/>
            </a:avLst>
          </a:prstGeom>
          <a:solidFill>
            <a:schemeClr val="accent4"/>
          </a:solidFill>
          <a:ln w="9525">
            <a:solidFill>
              <a:schemeClr val="accent4"/>
            </a:solidFill>
            <a:prstDash val="solid"/>
          </a:ln>
        </p:spPr>
      </p:sp>
      <p:sp>
        <p:nvSpPr>
          <p:cNvPr id="15" name="Text 13"/>
          <p:cNvSpPr txBox="1"/>
          <p:nvPr/>
        </p:nvSpPr>
        <p:spPr>
          <a:xfrm>
            <a:off x="914400" y="5394960"/>
            <a:ext cx="10332720" cy="777240"/>
          </a:xfrm>
          <a:prstGeom prst="rect">
            <a:avLst/>
          </a:prstGeom>
          <a:noFill/>
          <a:ln/>
        </p:spPr>
        <p:txBody>
          <a:bodyPr wrap="square" lIns="0" tIns="0" rIns="0" bIns="0" rtlCol="0" anchor="ctr"/>
          <a:lstStyle/>
          <a:p>
            <a:pPr indent="0" marL="0">
              <a:buNone/>
            </a:pPr>
            <a:r>
              <a:rPr lang="en-US" sz="1800" dirty="0">
                <a:solidFill>
                  <a:schemeClr val="tx1"/>
                </a:solidFill>
              </a:rPr>
              <a:t>The owner needs two clear answers: </a:t>
            </a:r>
            <a:pPr indent="0" marL="0">
              <a:buNone/>
            </a:pPr>
            <a:r>
              <a:rPr lang="en-US" sz="1800" b="1" dirty="0">
                <a:solidFill>
                  <a:schemeClr val="tx1"/>
                </a:solidFill>
              </a:rPr>
              <a:t>when to reorder</a:t>
            </a:r>
            <a:pPr indent="0" marL="0">
              <a:buNone/>
            </a:pPr>
            <a:r>
              <a:rPr lang="en-US" sz="1800" dirty="0">
                <a:solidFill>
                  <a:schemeClr val="tx1"/>
                </a:solidFill>
              </a:rPr>
              <a:t> and </a:t>
            </a:r>
            <a:pPr indent="0" marL="0">
              <a:buNone/>
            </a:pPr>
            <a:r>
              <a:rPr lang="en-US" sz="1800" b="1" dirty="0">
                <a:solidFill>
                  <a:schemeClr val="tx1"/>
                </a:solidFill>
              </a:rPr>
              <a:t>how much</a:t>
            </a:r>
            <a:pPr indent="0" marL="0">
              <a:buNone/>
            </a:pP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How the owner uses StockSense</a:t>
            </a:r>
            <a:endParaRPr lang="en-US" sz="3200" dirty="0"/>
          </a:p>
        </p:txBody>
      </p:sp>
      <p:sp>
        <p:nvSpPr>
          <p:cNvPr id="3" name="Flow card 1"/>
          <p:cNvSpPr/>
          <p:nvPr/>
        </p:nvSpPr>
        <p:spPr>
          <a:xfrm>
            <a:off x="548640" y="1600200"/>
            <a:ext cx="2432304" cy="3200400"/>
          </a:xfrm>
          <a:prstGeom prst="roundRect">
            <a:avLst>
              <a:gd name="adj" fmla="val 4511"/>
            </a:avLst>
          </a:prstGeom>
          <a:solidFill>
            <a:schemeClr val="bg1"/>
          </a:solidFill>
          <a:ln w="9525">
            <a:solidFill>
              <a:schemeClr val="accent4"/>
            </a:solidFill>
            <a:prstDash val="solid"/>
          </a:ln>
        </p:spPr>
      </p:sp>
      <p:sp>
        <p:nvSpPr>
          <p:cNvPr id="4" name="Step 1"/>
          <p:cNvSpPr txBox="1"/>
          <p:nvPr/>
        </p:nvSpPr>
        <p:spPr>
          <a:xfrm>
            <a:off x="822960" y="187452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822960" y="2697480"/>
            <a:ext cx="1920240" cy="548640"/>
          </a:xfrm>
          <a:prstGeom prst="rect">
            <a:avLst/>
          </a:prstGeom>
          <a:noFill/>
          <a:ln/>
        </p:spPr>
        <p:txBody>
          <a:bodyPr wrap="square" lIns="0" tIns="0" rIns="0" bIns="0" rtlCol="0" anchor="t"/>
          <a:lstStyle/>
          <a:p>
            <a:pPr indent="0" marL="0">
              <a:buNone/>
            </a:pPr>
            <a:r>
              <a:rPr lang="en-US" sz="1800" b="1" dirty="0">
                <a:solidFill>
                  <a:schemeClr val="tx1"/>
                </a:solidFill>
              </a:rPr>
              <a:t>Upload past sales</a:t>
            </a:r>
            <a:endParaRPr lang="en-US" sz="1800" dirty="0"/>
          </a:p>
        </p:txBody>
      </p:sp>
      <p:sp>
        <p:nvSpPr>
          <p:cNvPr id="6" name="Text 4"/>
          <p:cNvSpPr txBox="1"/>
          <p:nvPr/>
        </p:nvSpPr>
        <p:spPr>
          <a:xfrm>
            <a:off x="822960" y="3291840"/>
            <a:ext cx="1920240" cy="1371600"/>
          </a:xfrm>
          <a:prstGeom prst="rect">
            <a:avLst/>
          </a:prstGeom>
          <a:noFill/>
          <a:ln/>
        </p:spPr>
        <p:txBody>
          <a:bodyPr wrap="square" lIns="0" tIns="0" rIns="0" bIns="0" rtlCol="0" anchor="t"/>
          <a:lstStyle/>
          <a:p>
            <a:pPr indent="0" marL="0">
              <a:buNone/>
            </a:pPr>
            <a:r>
              <a:rPr lang="en-US" sz="1400" dirty="0">
                <a:solidFill>
                  <a:schemeClr val="tx1"/>
                </a:solidFill>
              </a:rPr>
              <a:t>CSV or Excel with date, product and units sold.</a:t>
            </a:r>
            <a:endParaRPr lang="en-US" sz="1400" dirty="0"/>
          </a:p>
        </p:txBody>
      </p:sp>
      <p:sp>
        <p:nvSpPr>
          <p:cNvPr id="7" name="Flow arrow 1"/>
          <p:cNvSpPr/>
          <p:nvPr/>
        </p:nvSpPr>
        <p:spPr>
          <a:xfrm>
            <a:off x="3035808" y="2999232"/>
            <a:ext cx="347472" cy="310896"/>
          </a:xfrm>
          <a:prstGeom prst="rightArrow">
            <a:avLst/>
          </a:prstGeom>
          <a:solidFill>
            <a:schemeClr val="accent1"/>
          </a:solidFill>
          <a:ln w="12700">
            <a:solidFill>
              <a:schemeClr val="accent1"/>
            </a:solidFill>
            <a:prstDash val="solid"/>
          </a:ln>
        </p:spPr>
      </p:sp>
      <p:sp>
        <p:nvSpPr>
          <p:cNvPr id="8" name="Flow card 2"/>
          <p:cNvSpPr/>
          <p:nvPr/>
        </p:nvSpPr>
        <p:spPr>
          <a:xfrm>
            <a:off x="3438144" y="1600200"/>
            <a:ext cx="2432304" cy="3200400"/>
          </a:xfrm>
          <a:prstGeom prst="roundRect">
            <a:avLst>
              <a:gd name="adj" fmla="val 4511"/>
            </a:avLst>
          </a:prstGeom>
          <a:solidFill>
            <a:schemeClr val="bg1"/>
          </a:solidFill>
          <a:ln w="9525">
            <a:solidFill>
              <a:schemeClr val="accent4"/>
            </a:solidFill>
            <a:prstDash val="solid"/>
          </a:ln>
        </p:spPr>
      </p:sp>
      <p:sp>
        <p:nvSpPr>
          <p:cNvPr id="9" name="Step 2"/>
          <p:cNvSpPr txBox="1"/>
          <p:nvPr/>
        </p:nvSpPr>
        <p:spPr>
          <a:xfrm>
            <a:off x="3712464" y="187452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3712464" y="2697480"/>
            <a:ext cx="1920240" cy="548640"/>
          </a:xfrm>
          <a:prstGeom prst="rect">
            <a:avLst/>
          </a:prstGeom>
          <a:noFill/>
          <a:ln/>
        </p:spPr>
        <p:txBody>
          <a:bodyPr wrap="square" lIns="0" tIns="0" rIns="0" bIns="0" rtlCol="0" anchor="t"/>
          <a:lstStyle/>
          <a:p>
            <a:pPr indent="0" marL="0">
              <a:buNone/>
            </a:pPr>
            <a:r>
              <a:rPr lang="en-US" sz="1800" b="1" dirty="0">
                <a:solidFill>
                  <a:schemeClr val="tx1"/>
                </a:solidFill>
              </a:rPr>
              <a:t>Enter product details</a:t>
            </a:r>
            <a:endParaRPr lang="en-US" sz="1800" dirty="0"/>
          </a:p>
        </p:txBody>
      </p:sp>
      <p:sp>
        <p:nvSpPr>
          <p:cNvPr id="11" name="Text 9"/>
          <p:cNvSpPr txBox="1"/>
          <p:nvPr/>
        </p:nvSpPr>
        <p:spPr>
          <a:xfrm>
            <a:off x="3712464" y="3291840"/>
            <a:ext cx="1920240" cy="1371600"/>
          </a:xfrm>
          <a:prstGeom prst="rect">
            <a:avLst/>
          </a:prstGeom>
          <a:noFill/>
          <a:ln/>
        </p:spPr>
        <p:txBody>
          <a:bodyPr wrap="square" lIns="0" tIns="0" rIns="0" bIns="0" rtlCol="0" anchor="t"/>
          <a:lstStyle/>
          <a:p>
            <a:pPr indent="0" marL="0">
              <a:buNone/>
            </a:pPr>
            <a:r>
              <a:rPr lang="en-US" sz="1400" dirty="0">
                <a:solidFill>
                  <a:schemeClr val="tx1"/>
                </a:solidFill>
              </a:rPr>
              <a:t>Stock on hand, supplier lead time and shelf life, plus cost, price and pack size.</a:t>
            </a:r>
            <a:endParaRPr lang="en-US" sz="1400" dirty="0"/>
          </a:p>
        </p:txBody>
      </p:sp>
      <p:sp>
        <p:nvSpPr>
          <p:cNvPr id="12" name="Flow arrow 2"/>
          <p:cNvSpPr/>
          <p:nvPr/>
        </p:nvSpPr>
        <p:spPr>
          <a:xfrm>
            <a:off x="5925312" y="2999232"/>
            <a:ext cx="347472" cy="310896"/>
          </a:xfrm>
          <a:prstGeom prst="rightArrow">
            <a:avLst/>
          </a:prstGeom>
          <a:solidFill>
            <a:schemeClr val="accent1"/>
          </a:solidFill>
          <a:ln w="12700">
            <a:solidFill>
              <a:schemeClr val="accent1"/>
            </a:solidFill>
            <a:prstDash val="solid"/>
          </a:ln>
        </p:spPr>
      </p:sp>
      <p:sp>
        <p:nvSpPr>
          <p:cNvPr id="13" name="Flow card 3"/>
          <p:cNvSpPr/>
          <p:nvPr/>
        </p:nvSpPr>
        <p:spPr>
          <a:xfrm>
            <a:off x="6327648" y="1600200"/>
            <a:ext cx="2432304" cy="3200400"/>
          </a:xfrm>
          <a:prstGeom prst="roundRect">
            <a:avLst>
              <a:gd name="adj" fmla="val 4511"/>
            </a:avLst>
          </a:prstGeom>
          <a:solidFill>
            <a:schemeClr val="tx2"/>
          </a:solidFill>
          <a:ln w="9525">
            <a:solidFill>
              <a:schemeClr val="accent4"/>
            </a:solidFill>
            <a:prstDash val="solid"/>
          </a:ln>
        </p:spPr>
      </p:sp>
      <p:sp>
        <p:nvSpPr>
          <p:cNvPr id="14" name="Step 3"/>
          <p:cNvSpPr txBox="1"/>
          <p:nvPr/>
        </p:nvSpPr>
        <p:spPr>
          <a:xfrm>
            <a:off x="6601968" y="1874520"/>
            <a:ext cx="548640" cy="54864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Step 3 label"/>
          <p:cNvSpPr txBox="1"/>
          <p:nvPr/>
        </p:nvSpPr>
        <p:spPr>
          <a:xfrm>
            <a:off x="6601968" y="1874520"/>
            <a:ext cx="548640" cy="54864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6601968" y="2697480"/>
            <a:ext cx="1920240" cy="548640"/>
          </a:xfrm>
          <a:prstGeom prst="rect">
            <a:avLst/>
          </a:prstGeom>
          <a:noFill/>
          <a:ln/>
        </p:spPr>
        <p:txBody>
          <a:bodyPr wrap="square" lIns="0" tIns="0" rIns="0" bIns="0" rtlCol="0" anchor="t"/>
          <a:lstStyle/>
          <a:p>
            <a:pPr indent="0" marL="0">
              <a:buNone/>
            </a:pPr>
            <a:r>
              <a:rPr lang="en-US" sz="1800" b="1" dirty="0">
                <a:solidFill>
                  <a:schemeClr val="bg1"/>
                </a:solidFill>
              </a:rPr>
              <a:t>Forecast and calculate</a:t>
            </a:r>
            <a:endParaRPr lang="en-US" sz="1800" dirty="0"/>
          </a:p>
        </p:txBody>
      </p:sp>
      <p:sp>
        <p:nvSpPr>
          <p:cNvPr id="17" name="Text 15"/>
          <p:cNvSpPr txBox="1"/>
          <p:nvPr/>
        </p:nvSpPr>
        <p:spPr>
          <a:xfrm>
            <a:off x="6601968" y="3291840"/>
            <a:ext cx="1920240" cy="1371600"/>
          </a:xfrm>
          <a:prstGeom prst="rect">
            <a:avLst/>
          </a:prstGeom>
          <a:noFill/>
          <a:ln/>
        </p:spPr>
        <p:txBody>
          <a:bodyPr wrap="square" lIns="0" tIns="0" rIns="0" bIns="0" rtlCol="0" anchor="t"/>
          <a:lstStyle/>
          <a:p>
            <a:pPr indent="0" marL="0">
              <a:buNone/>
            </a:pPr>
            <a:r>
              <a:rPr lang="en-US" sz="1400" dirty="0">
                <a:solidFill>
                  <a:schemeClr val="accent4"/>
                </a:solidFill>
              </a:rPr>
              <a:t>Predicts units sold until the next delivery, then works out the exact order.</a:t>
            </a:r>
            <a:endParaRPr lang="en-US" sz="1400" dirty="0"/>
          </a:p>
        </p:txBody>
      </p:sp>
      <p:sp>
        <p:nvSpPr>
          <p:cNvPr id="18" name="Flow arrow 3"/>
          <p:cNvSpPr/>
          <p:nvPr/>
        </p:nvSpPr>
        <p:spPr>
          <a:xfrm>
            <a:off x="8814816" y="2999232"/>
            <a:ext cx="347472" cy="310896"/>
          </a:xfrm>
          <a:prstGeom prst="rightArrow">
            <a:avLst/>
          </a:prstGeom>
          <a:solidFill>
            <a:schemeClr val="accent1"/>
          </a:solidFill>
          <a:ln w="12700">
            <a:solidFill>
              <a:schemeClr val="accent1"/>
            </a:solidFill>
            <a:prstDash val="solid"/>
          </a:ln>
        </p:spPr>
      </p:sp>
      <p:sp>
        <p:nvSpPr>
          <p:cNvPr id="19" name="Flow card 4"/>
          <p:cNvSpPr/>
          <p:nvPr/>
        </p:nvSpPr>
        <p:spPr>
          <a:xfrm>
            <a:off x="9217152" y="1600200"/>
            <a:ext cx="2432304" cy="3200400"/>
          </a:xfrm>
          <a:prstGeom prst="roundRect">
            <a:avLst>
              <a:gd name="adj" fmla="val 4511"/>
            </a:avLst>
          </a:prstGeom>
          <a:solidFill>
            <a:schemeClr val="bg1"/>
          </a:solidFill>
          <a:ln w="9525">
            <a:solidFill>
              <a:schemeClr val="accent4"/>
            </a:solidFill>
            <a:prstDash val="solid"/>
          </a:ln>
        </p:spPr>
      </p:sp>
      <p:sp>
        <p:nvSpPr>
          <p:cNvPr id="20" name="Step 4"/>
          <p:cNvSpPr txBox="1"/>
          <p:nvPr/>
        </p:nvSpPr>
        <p:spPr>
          <a:xfrm>
            <a:off x="9491472" y="187452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9491472" y="2697480"/>
            <a:ext cx="1920240" cy="548640"/>
          </a:xfrm>
          <a:prstGeom prst="rect">
            <a:avLst/>
          </a:prstGeom>
          <a:noFill/>
          <a:ln/>
        </p:spPr>
        <p:txBody>
          <a:bodyPr wrap="square" lIns="0" tIns="0" rIns="0" bIns="0" rtlCol="0" anchor="t"/>
          <a:lstStyle/>
          <a:p>
            <a:pPr indent="0" marL="0">
              <a:buNone/>
            </a:pPr>
            <a:r>
              <a:rPr lang="en-US" sz="1800" b="1" dirty="0">
                <a:solidFill>
                  <a:schemeClr val="tx1"/>
                </a:solidFill>
              </a:rPr>
              <a:t>Get the ranked list</a:t>
            </a:r>
            <a:endParaRPr lang="en-US" sz="1800" dirty="0"/>
          </a:p>
        </p:txBody>
      </p:sp>
      <p:sp>
        <p:nvSpPr>
          <p:cNvPr id="22" name="Text 20"/>
          <p:cNvSpPr txBox="1"/>
          <p:nvPr/>
        </p:nvSpPr>
        <p:spPr>
          <a:xfrm>
            <a:off x="9491472" y="3291840"/>
            <a:ext cx="1920240" cy="1371600"/>
          </a:xfrm>
          <a:prstGeom prst="rect">
            <a:avLst/>
          </a:prstGeom>
          <a:noFill/>
          <a:ln/>
        </p:spPr>
        <p:txBody>
          <a:bodyPr wrap="square" lIns="0" tIns="0" rIns="0" bIns="0" rtlCol="0" anchor="t"/>
          <a:lstStyle/>
          <a:p>
            <a:pPr indent="0" marL="0">
              <a:buNone/>
            </a:pPr>
            <a:r>
              <a:rPr lang="en-US" sz="1400" dirty="0">
                <a:solidFill>
                  <a:schemeClr val="tx1"/>
                </a:solidFill>
              </a:rPr>
              <a:t>Most urgent and most profitable first, with units and cost. Export to CSV or Excel.</a:t>
            </a:r>
            <a:endParaRPr lang="en-US" sz="1400" dirty="0"/>
          </a:p>
        </p:txBody>
      </p:sp>
      <p:sp>
        <p:nvSpPr>
          <p:cNvPr id="23" name="Validation strip"/>
          <p:cNvSpPr/>
          <p:nvPr/>
        </p:nvSpPr>
        <p:spPr>
          <a:xfrm>
            <a:off x="548640" y="5120640"/>
            <a:ext cx="11091672" cy="1051560"/>
          </a:xfrm>
          <a:prstGeom prst="roundRect">
            <a:avLst>
              <a:gd name="adj" fmla="val 10435"/>
            </a:avLst>
          </a:prstGeom>
          <a:solidFill>
            <a:schemeClr val="accent4"/>
          </a:solidFill>
          <a:ln w="9525">
            <a:solidFill>
              <a:schemeClr val="accent4"/>
            </a:solidFill>
            <a:prstDash val="solid"/>
          </a:ln>
        </p:spPr>
      </p:sp>
      <p:sp>
        <p:nvSpPr>
          <p:cNvPr id="24" name="Text 22"/>
          <p:cNvSpPr txBox="1"/>
          <p:nvPr/>
        </p:nvSpPr>
        <p:spPr>
          <a:xfrm>
            <a:off x="914400" y="5120640"/>
            <a:ext cx="10332720" cy="1051560"/>
          </a:xfrm>
          <a:prstGeom prst="rect">
            <a:avLst/>
          </a:prstGeom>
          <a:noFill/>
          <a:ln/>
        </p:spPr>
        <p:txBody>
          <a:bodyPr wrap="square" lIns="0" tIns="0" rIns="0" bIns="0" rtlCol="0" anchor="ctr"/>
          <a:lstStyle/>
          <a:p>
            <a:pPr indent="0" marL="0">
              <a:buNone/>
            </a:pPr>
            <a:r>
              <a:rPr lang="en-US" sz="1600" b="1" dirty="0">
                <a:solidFill>
                  <a:schemeClr val="tx1"/>
                </a:solidFill>
              </a:rPr>
              <a:t>Data checks before forecasting</a:t>
            </a:r>
            <a:endParaRPr lang="en-US" sz="1600" dirty="0"/>
          </a:p>
          <a:p>
            <a:pPr indent="0" marL="0">
              <a:buNone/>
            </a:pPr>
            <a:r>
              <a:rPr lang="en-US" sz="1400" dirty="0">
                <a:solidFill>
                  <a:schemeClr val="tx1"/>
                </a:solidFill>
              </a:rPr>
              <a:t>Remove duplicate rows · treat days with no sales as 0 · flag negative stock, missing dates and outliers for the owner to review.</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Forecast demand until the next delivery</a:t>
            </a:r>
            <a:endParaRPr lang="en-US" sz="3200" dirty="0"/>
          </a:p>
        </p:txBody>
      </p:sp>
      <p:sp>
        <p:nvSpPr>
          <p:cNvPr id="3" name="Formula row 1"/>
          <p:cNvSpPr/>
          <p:nvPr/>
        </p:nvSpPr>
        <p:spPr>
          <a:xfrm>
            <a:off x="548640" y="1554480"/>
            <a:ext cx="5943600" cy="868680"/>
          </a:xfrm>
          <a:prstGeom prst="roundRect">
            <a:avLst>
              <a:gd name="adj" fmla="val 12632"/>
            </a:avLst>
          </a:prstGeom>
          <a:solidFill>
            <a:schemeClr val="bg1"/>
          </a:solidFill>
          <a:ln w="9525">
            <a:solidFill>
              <a:schemeClr val="accent4"/>
            </a:solidFill>
            <a:prstDash val="solid"/>
          </a:ln>
        </p:spPr>
      </p:sp>
      <p:sp>
        <p:nvSpPr>
          <p:cNvPr id="4" name="Text 2"/>
          <p:cNvSpPr txBox="1"/>
          <p:nvPr/>
        </p:nvSpPr>
        <p:spPr>
          <a:xfrm>
            <a:off x="777240" y="1554480"/>
            <a:ext cx="2834640" cy="868680"/>
          </a:xfrm>
          <a:prstGeom prst="rect">
            <a:avLst/>
          </a:prstGeom>
          <a:noFill/>
          <a:ln/>
        </p:spPr>
        <p:txBody>
          <a:bodyPr wrap="square" lIns="0" tIns="0" rIns="0" bIns="0" rtlCol="0" anchor="ctr"/>
          <a:lstStyle/>
          <a:p>
            <a:pPr indent="0" marL="0">
              <a:buNone/>
            </a:pPr>
            <a:r>
              <a:rPr lang="en-US" sz="1600" b="1" dirty="0">
                <a:solidFill>
                  <a:schemeClr val="tx1"/>
                </a:solidFill>
              </a:rPr>
              <a:t>Daily demand (d)</a:t>
            </a:r>
            <a:endParaRPr lang="en-US" sz="1600" dirty="0"/>
          </a:p>
          <a:p>
            <a:pPr indent="0" marL="0">
              <a:buNone/>
            </a:pPr>
            <a:r>
              <a:rPr lang="en-US" sz="1200" dirty="0">
                <a:solidFill>
                  <a:schemeClr val="accent5"/>
                </a:solidFill>
              </a:rPr>
              <a:t>14-day moving average of units sold</a:t>
            </a:r>
            <a:endParaRPr lang="en-US" sz="1600" dirty="0"/>
          </a:p>
        </p:txBody>
      </p:sp>
      <p:sp>
        <p:nvSpPr>
          <p:cNvPr id="5" name="Text 3"/>
          <p:cNvSpPr txBox="1"/>
          <p:nvPr/>
        </p:nvSpPr>
        <p:spPr>
          <a:xfrm>
            <a:off x="3703320" y="1554480"/>
            <a:ext cx="2651760" cy="868680"/>
          </a:xfrm>
          <a:prstGeom prst="rect">
            <a:avLst/>
          </a:prstGeom>
          <a:noFill/>
          <a:ln/>
        </p:spPr>
        <p:txBody>
          <a:bodyPr wrap="square" lIns="0" tIns="0" rIns="0" bIns="0" rtlCol="0" anchor="ctr"/>
          <a:lstStyle/>
          <a:p>
            <a:pPr indent="0" marL="0">
              <a:buNone/>
            </a:pPr>
            <a:r>
              <a:rPr lang="en-US" sz="1600" b="1" dirty="0">
                <a:solidFill>
                  <a:schemeClr val="accent1"/>
                </a:solidFill>
              </a:rPr>
              <a:t>d = avg of last 14 days</a:t>
            </a:r>
            <a:endParaRPr lang="en-US" sz="1600" dirty="0"/>
          </a:p>
        </p:txBody>
      </p:sp>
      <p:sp>
        <p:nvSpPr>
          <p:cNvPr id="6" name="Formula row 2"/>
          <p:cNvSpPr/>
          <p:nvPr/>
        </p:nvSpPr>
        <p:spPr>
          <a:xfrm>
            <a:off x="548640" y="2560320"/>
            <a:ext cx="5943600" cy="868680"/>
          </a:xfrm>
          <a:prstGeom prst="roundRect">
            <a:avLst>
              <a:gd name="adj" fmla="val 12632"/>
            </a:avLst>
          </a:prstGeom>
          <a:solidFill>
            <a:schemeClr val="bg1"/>
          </a:solidFill>
          <a:ln w="9525">
            <a:solidFill>
              <a:schemeClr val="accent4"/>
            </a:solidFill>
            <a:prstDash val="solid"/>
          </a:ln>
        </p:spPr>
      </p:sp>
      <p:sp>
        <p:nvSpPr>
          <p:cNvPr id="7" name="Text 5"/>
          <p:cNvSpPr txBox="1"/>
          <p:nvPr/>
        </p:nvSpPr>
        <p:spPr>
          <a:xfrm>
            <a:off x="777240" y="2560320"/>
            <a:ext cx="2834640" cy="868680"/>
          </a:xfrm>
          <a:prstGeom prst="rect">
            <a:avLst/>
          </a:prstGeom>
          <a:noFill/>
          <a:ln/>
        </p:spPr>
        <p:txBody>
          <a:bodyPr wrap="square" lIns="0" tIns="0" rIns="0" bIns="0" rtlCol="0" anchor="ctr"/>
          <a:lstStyle/>
          <a:p>
            <a:pPr indent="0" marL="0">
              <a:buNone/>
            </a:pPr>
            <a:r>
              <a:rPr lang="en-US" sz="1600" b="1" dirty="0">
                <a:solidFill>
                  <a:schemeClr val="tx1"/>
                </a:solidFill>
              </a:rPr>
              <a:t>Lead-time demand</a:t>
            </a:r>
            <a:endParaRPr lang="en-US" sz="1600" dirty="0"/>
          </a:p>
          <a:p>
            <a:pPr indent="0" marL="0">
              <a:buNone/>
            </a:pPr>
            <a:r>
              <a:rPr lang="en-US" sz="1200" dirty="0">
                <a:solidFill>
                  <a:schemeClr val="accent5"/>
                </a:solidFill>
              </a:rPr>
              <a:t>L = supplier lead time in days</a:t>
            </a:r>
            <a:endParaRPr lang="en-US" sz="1600" dirty="0"/>
          </a:p>
        </p:txBody>
      </p:sp>
      <p:sp>
        <p:nvSpPr>
          <p:cNvPr id="8" name="Text 6"/>
          <p:cNvSpPr txBox="1"/>
          <p:nvPr/>
        </p:nvSpPr>
        <p:spPr>
          <a:xfrm>
            <a:off x="3703320" y="2560320"/>
            <a:ext cx="2651760" cy="868680"/>
          </a:xfrm>
          <a:prstGeom prst="rect">
            <a:avLst/>
          </a:prstGeom>
          <a:noFill/>
          <a:ln/>
        </p:spPr>
        <p:txBody>
          <a:bodyPr wrap="square" lIns="0" tIns="0" rIns="0" bIns="0" rtlCol="0" anchor="ctr"/>
          <a:lstStyle/>
          <a:p>
            <a:pPr indent="0" marL="0">
              <a:buNone/>
            </a:pPr>
            <a:r>
              <a:rPr lang="en-US" sz="1600" b="1" dirty="0">
                <a:solidFill>
                  <a:schemeClr val="accent1"/>
                </a:solidFill>
              </a:rPr>
              <a:t>d × L</a:t>
            </a:r>
            <a:endParaRPr lang="en-US" sz="1600" dirty="0"/>
          </a:p>
        </p:txBody>
      </p:sp>
      <p:sp>
        <p:nvSpPr>
          <p:cNvPr id="9" name="Formula row 3"/>
          <p:cNvSpPr/>
          <p:nvPr/>
        </p:nvSpPr>
        <p:spPr>
          <a:xfrm>
            <a:off x="548640" y="3566160"/>
            <a:ext cx="5943600" cy="868680"/>
          </a:xfrm>
          <a:prstGeom prst="roundRect">
            <a:avLst>
              <a:gd name="adj" fmla="val 12632"/>
            </a:avLst>
          </a:prstGeom>
          <a:solidFill>
            <a:schemeClr val="bg1"/>
          </a:solidFill>
          <a:ln w="9525">
            <a:solidFill>
              <a:schemeClr val="accent4"/>
            </a:solidFill>
            <a:prstDash val="solid"/>
          </a:ln>
        </p:spPr>
      </p:sp>
      <p:sp>
        <p:nvSpPr>
          <p:cNvPr id="10" name="Text 8"/>
          <p:cNvSpPr txBox="1"/>
          <p:nvPr/>
        </p:nvSpPr>
        <p:spPr>
          <a:xfrm>
            <a:off x="777240" y="3566160"/>
            <a:ext cx="2834640" cy="868680"/>
          </a:xfrm>
          <a:prstGeom prst="rect">
            <a:avLst/>
          </a:prstGeom>
          <a:noFill/>
          <a:ln/>
        </p:spPr>
        <p:txBody>
          <a:bodyPr wrap="square" lIns="0" tIns="0" rIns="0" bIns="0" rtlCol="0" anchor="ctr"/>
          <a:lstStyle/>
          <a:p>
            <a:pPr indent="0" marL="0">
              <a:buNone/>
            </a:pPr>
            <a:r>
              <a:rPr lang="en-US" sz="1600" b="1" dirty="0">
                <a:solidFill>
                  <a:schemeClr val="tx1"/>
                </a:solidFill>
              </a:rPr>
              <a:t>Safety stock</a:t>
            </a:r>
            <a:endParaRPr lang="en-US" sz="1600" dirty="0"/>
          </a:p>
          <a:p>
            <a:pPr indent="0" marL="0">
              <a:buNone/>
            </a:pPr>
            <a:r>
              <a:rPr lang="en-US" sz="1200" dirty="0">
                <a:solidFill>
                  <a:schemeClr val="accent5"/>
                </a:solidFill>
              </a:rPr>
              <a:t>σ = std. deviation of daily sales, z = 1.65 (95% service)</a:t>
            </a:r>
            <a:endParaRPr lang="en-US" sz="1600" dirty="0"/>
          </a:p>
        </p:txBody>
      </p:sp>
      <p:sp>
        <p:nvSpPr>
          <p:cNvPr id="11" name="Text 9"/>
          <p:cNvSpPr txBox="1"/>
          <p:nvPr/>
        </p:nvSpPr>
        <p:spPr>
          <a:xfrm>
            <a:off x="3703320" y="3566160"/>
            <a:ext cx="2651760" cy="868680"/>
          </a:xfrm>
          <a:prstGeom prst="rect">
            <a:avLst/>
          </a:prstGeom>
          <a:noFill/>
          <a:ln/>
        </p:spPr>
        <p:txBody>
          <a:bodyPr wrap="square" lIns="0" tIns="0" rIns="0" bIns="0" rtlCol="0" anchor="ctr"/>
          <a:lstStyle/>
          <a:p>
            <a:pPr indent="0" marL="0">
              <a:buNone/>
            </a:pPr>
            <a:r>
              <a:rPr lang="en-US" sz="1600" b="1" dirty="0">
                <a:solidFill>
                  <a:schemeClr val="accent1"/>
                </a:solidFill>
              </a:rPr>
              <a:t>z × σ × √L</a:t>
            </a:r>
            <a:endParaRPr lang="en-US" sz="1600" dirty="0"/>
          </a:p>
        </p:txBody>
      </p:sp>
      <p:sp>
        <p:nvSpPr>
          <p:cNvPr id="12" name="Formula row 4"/>
          <p:cNvSpPr/>
          <p:nvPr/>
        </p:nvSpPr>
        <p:spPr>
          <a:xfrm>
            <a:off x="548640" y="4572000"/>
            <a:ext cx="5943600" cy="868680"/>
          </a:xfrm>
          <a:prstGeom prst="roundRect">
            <a:avLst>
              <a:gd name="adj" fmla="val 12632"/>
            </a:avLst>
          </a:prstGeom>
          <a:solidFill>
            <a:schemeClr val="bg1"/>
          </a:solidFill>
          <a:ln w="9525">
            <a:solidFill>
              <a:schemeClr val="accent4"/>
            </a:solidFill>
            <a:prstDash val="solid"/>
          </a:ln>
        </p:spPr>
      </p:sp>
      <p:sp>
        <p:nvSpPr>
          <p:cNvPr id="13" name="Text 11"/>
          <p:cNvSpPr txBox="1"/>
          <p:nvPr/>
        </p:nvSpPr>
        <p:spPr>
          <a:xfrm>
            <a:off x="777240" y="4572000"/>
            <a:ext cx="2834640" cy="868680"/>
          </a:xfrm>
          <a:prstGeom prst="rect">
            <a:avLst/>
          </a:prstGeom>
          <a:noFill/>
          <a:ln/>
        </p:spPr>
        <p:txBody>
          <a:bodyPr wrap="square" lIns="0" tIns="0" rIns="0" bIns="0" rtlCol="0" anchor="ctr"/>
          <a:lstStyle/>
          <a:p>
            <a:pPr indent="0" marL="0">
              <a:buNone/>
            </a:pPr>
            <a:r>
              <a:rPr lang="en-US" sz="1600" b="1" dirty="0">
                <a:solidFill>
                  <a:schemeClr val="tx1"/>
                </a:solidFill>
              </a:rPr>
              <a:t>Reorder point</a:t>
            </a:r>
            <a:endParaRPr lang="en-US" sz="1600" dirty="0"/>
          </a:p>
          <a:p>
            <a:pPr indent="0" marL="0">
              <a:buNone/>
            </a:pPr>
            <a:r>
              <a:rPr lang="en-US" sz="1200" dirty="0">
                <a:solidFill>
                  <a:schemeClr val="accent5"/>
                </a:solidFill>
              </a:rPr>
              <a:t>Stock level that triggers an order</a:t>
            </a:r>
            <a:endParaRPr lang="en-US" sz="1600" dirty="0"/>
          </a:p>
        </p:txBody>
      </p:sp>
      <p:sp>
        <p:nvSpPr>
          <p:cNvPr id="14" name="Text 12"/>
          <p:cNvSpPr txBox="1"/>
          <p:nvPr/>
        </p:nvSpPr>
        <p:spPr>
          <a:xfrm>
            <a:off x="3703320" y="4572000"/>
            <a:ext cx="2651760" cy="868680"/>
          </a:xfrm>
          <a:prstGeom prst="rect">
            <a:avLst/>
          </a:prstGeom>
          <a:noFill/>
          <a:ln/>
        </p:spPr>
        <p:txBody>
          <a:bodyPr wrap="square" lIns="0" tIns="0" rIns="0" bIns="0" rtlCol="0" anchor="ctr"/>
          <a:lstStyle/>
          <a:p>
            <a:pPr indent="0" marL="0">
              <a:buNone/>
            </a:pPr>
            <a:r>
              <a:rPr lang="en-US" sz="1600" b="1" dirty="0">
                <a:solidFill>
                  <a:schemeClr val="accent1"/>
                </a:solidFill>
              </a:rPr>
              <a:t>d × L + safety stock</a:t>
            </a:r>
            <a:endParaRPr lang="en-US" sz="1600" dirty="0"/>
          </a:p>
        </p:txBody>
      </p:sp>
      <p:sp>
        <p:nvSpPr>
          <p:cNvPr id="15" name="Chart card"/>
          <p:cNvSpPr/>
          <p:nvPr/>
        </p:nvSpPr>
        <p:spPr>
          <a:xfrm>
            <a:off x="6766560" y="1554480"/>
            <a:ext cx="4873752" cy="3886200"/>
          </a:xfrm>
          <a:prstGeom prst="roundRect">
            <a:avLst>
              <a:gd name="adj" fmla="val 2824"/>
            </a:avLst>
          </a:prstGeom>
          <a:solidFill>
            <a:schemeClr val="bg1"/>
          </a:solidFill>
          <a:ln w="9525">
            <a:solidFill>
              <a:schemeClr val="accent4"/>
            </a:solidFill>
            <a:prstDash val="solid"/>
          </a:ln>
        </p:spPr>
      </p:sp>
      <p:graphicFrame>
        <p:nvGraphicFramePr>
          <p:cNvPr id="16" name="Chart 0" descr=""/>
          <p:cNvGraphicFramePr/>
          <p:nvPr/>
        </p:nvGraphicFramePr>
        <p:xfrm>
          <a:off x="6903720" y="1645920"/>
          <a:ext cx="4599432" cy="333756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6995160" y="4983480"/>
            <a:ext cx="4389120" cy="411480"/>
          </a:xfrm>
          <a:prstGeom prst="rect">
            <a:avLst/>
          </a:prstGeom>
          <a:noFill/>
          <a:ln/>
        </p:spPr>
        <p:txBody>
          <a:bodyPr wrap="square" lIns="0" tIns="0" rIns="0" bIns="0" rtlCol="0" anchor="t"/>
          <a:lstStyle/>
          <a:p>
            <a:pPr indent="0" marL="0">
              <a:buNone/>
            </a:pPr>
            <a:r>
              <a:rPr lang="en-US" sz="1200" dirty="0">
                <a:solidFill>
                  <a:schemeClr val="accent5"/>
                </a:solidFill>
              </a:rPr>
              <a:t>σ = 1.9 units, so safety stock = 1.65 × 1.9 × √2 ≈ 4.4, rounded up to 5.</a:t>
            </a:r>
            <a:endParaRPr lang="en-US" sz="1200" dirty="0"/>
          </a:p>
        </p:txBody>
      </p:sp>
      <p:sp>
        <p:nvSpPr>
          <p:cNvPr id="18" name="Honesty strip"/>
          <p:cNvSpPr/>
          <p:nvPr/>
        </p:nvSpPr>
        <p:spPr>
          <a:xfrm>
            <a:off x="548640" y="5623560"/>
            <a:ext cx="11091672" cy="548640"/>
          </a:xfrm>
          <a:prstGeom prst="roundRect">
            <a:avLst>
              <a:gd name="adj" fmla="val 20000"/>
            </a:avLst>
          </a:prstGeom>
          <a:solidFill>
            <a:schemeClr val="accent4"/>
          </a:solidFill>
          <a:ln w="9525">
            <a:solidFill>
              <a:schemeClr val="accent4"/>
            </a:solidFill>
            <a:prstDash val="solid"/>
          </a:ln>
        </p:spPr>
      </p:sp>
      <p:sp>
        <p:nvSpPr>
          <p:cNvPr id="19" name="Text 16"/>
          <p:cNvSpPr txBox="1"/>
          <p:nvPr/>
        </p:nvSpPr>
        <p:spPr>
          <a:xfrm>
            <a:off x="914400" y="5623560"/>
            <a:ext cx="10332720" cy="548640"/>
          </a:xfrm>
          <a:prstGeom prst="rect">
            <a:avLst/>
          </a:prstGeom>
          <a:noFill/>
          <a:ln/>
        </p:spPr>
        <p:txBody>
          <a:bodyPr wrap="square" lIns="0" tIns="0" rIns="0" bIns="0" rtlCol="0" anchor="ctr"/>
          <a:lstStyle/>
          <a:p>
            <a:pPr indent="0" marL="0">
              <a:buNone/>
            </a:pPr>
            <a:r>
              <a:rPr lang="en-US" sz="1400" dirty="0">
                <a:solidFill>
                  <a:schemeClr val="tx1"/>
                </a:solidFill>
              </a:rPr>
              <a:t>A forecast is an estimate, not a guarantee. We measure its error (MAE, WAPE) instead of claiming accuracy.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Turn demand into an exact order quantity</a:t>
            </a:r>
            <a:endParaRPr lang="en-US" sz="3200" dirty="0"/>
          </a:p>
        </p:txBody>
      </p:sp>
      <p:sp>
        <p:nvSpPr>
          <p:cNvPr id="3" name="Rule card 1"/>
          <p:cNvSpPr/>
          <p:nvPr/>
        </p:nvSpPr>
        <p:spPr>
          <a:xfrm>
            <a:off x="548640" y="1554480"/>
            <a:ext cx="5212080" cy="914400"/>
          </a:xfrm>
          <a:prstGeom prst="roundRect">
            <a:avLst>
              <a:gd name="adj" fmla="val 12000"/>
            </a:avLst>
          </a:prstGeom>
          <a:solidFill>
            <a:schemeClr val="bg1"/>
          </a:solidFill>
          <a:ln w="9525">
            <a:solidFill>
              <a:schemeClr val="accent4"/>
            </a:solidFill>
            <a:prstDash val="solid"/>
          </a:ln>
        </p:spPr>
      </p:sp>
      <p:sp>
        <p:nvSpPr>
          <p:cNvPr id="4" name="Step 1"/>
          <p:cNvSpPr txBox="1"/>
          <p:nvPr/>
        </p:nvSpPr>
        <p:spPr>
          <a:xfrm>
            <a:off x="777240" y="1755648"/>
            <a:ext cx="512064" cy="51206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463040" y="1554480"/>
            <a:ext cx="4160520" cy="914400"/>
          </a:xfrm>
          <a:prstGeom prst="rect">
            <a:avLst/>
          </a:prstGeom>
          <a:noFill/>
          <a:ln/>
        </p:spPr>
        <p:txBody>
          <a:bodyPr wrap="square" lIns="0" tIns="0" rIns="0" bIns="0" rtlCol="0" anchor="ctr"/>
          <a:lstStyle/>
          <a:p>
            <a:pPr indent="0" marL="0">
              <a:buNone/>
            </a:pPr>
            <a:r>
              <a:rPr lang="en-US" sz="1600" b="1" dirty="0">
                <a:solidFill>
                  <a:schemeClr val="tx1"/>
                </a:solidFill>
              </a:rPr>
              <a:t>Raw order</a:t>
            </a:r>
            <a:endParaRPr lang="en-US" sz="1600" dirty="0"/>
          </a:p>
          <a:p>
            <a:pPr indent="0" marL="0">
              <a:buNone/>
            </a:pPr>
            <a:r>
              <a:rPr lang="en-US" sz="1400" dirty="0">
                <a:solidFill>
                  <a:schemeClr val="tx1"/>
                </a:solidFill>
              </a:rPr>
              <a:t>Reorder point − (stock on hand + incoming stock)</a:t>
            </a:r>
            <a:endParaRPr lang="en-US" sz="1600" dirty="0"/>
          </a:p>
        </p:txBody>
      </p:sp>
      <p:sp>
        <p:nvSpPr>
          <p:cNvPr id="6" name="Rule card 2"/>
          <p:cNvSpPr/>
          <p:nvPr/>
        </p:nvSpPr>
        <p:spPr>
          <a:xfrm>
            <a:off x="548640" y="2578608"/>
            <a:ext cx="5212080" cy="914400"/>
          </a:xfrm>
          <a:prstGeom prst="roundRect">
            <a:avLst>
              <a:gd name="adj" fmla="val 12000"/>
            </a:avLst>
          </a:prstGeom>
          <a:solidFill>
            <a:schemeClr val="bg1"/>
          </a:solidFill>
          <a:ln w="9525">
            <a:solidFill>
              <a:schemeClr val="accent4"/>
            </a:solidFill>
            <a:prstDash val="solid"/>
          </a:ln>
        </p:spPr>
      </p:sp>
      <p:sp>
        <p:nvSpPr>
          <p:cNvPr id="7" name="Step 2"/>
          <p:cNvSpPr txBox="1"/>
          <p:nvPr/>
        </p:nvSpPr>
        <p:spPr>
          <a:xfrm>
            <a:off x="777240" y="2779776"/>
            <a:ext cx="512064" cy="51206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463040" y="2578608"/>
            <a:ext cx="4160520" cy="914400"/>
          </a:xfrm>
          <a:prstGeom prst="rect">
            <a:avLst/>
          </a:prstGeom>
          <a:noFill/>
          <a:ln/>
        </p:spPr>
        <p:txBody>
          <a:bodyPr wrap="square" lIns="0" tIns="0" rIns="0" bIns="0" rtlCol="0" anchor="ctr"/>
          <a:lstStyle/>
          <a:p>
            <a:pPr indent="0" marL="0">
              <a:buNone/>
            </a:pPr>
            <a:r>
              <a:rPr lang="en-US" sz="1600" b="1" dirty="0">
                <a:solidFill>
                  <a:schemeClr val="tx1"/>
                </a:solidFill>
              </a:rPr>
              <a:t>Pack size and minimum</a:t>
            </a:r>
            <a:endParaRPr lang="en-US" sz="1600" dirty="0"/>
          </a:p>
          <a:p>
            <a:pPr indent="0" marL="0">
              <a:buNone/>
            </a:pPr>
            <a:r>
              <a:rPr lang="en-US" sz="1400" dirty="0">
                <a:solidFill>
                  <a:schemeClr val="tx1"/>
                </a:solidFill>
              </a:rPr>
              <a:t>Round up to the supplier's pack size and minimum order</a:t>
            </a:r>
            <a:endParaRPr lang="en-US" sz="1600" dirty="0"/>
          </a:p>
        </p:txBody>
      </p:sp>
      <p:sp>
        <p:nvSpPr>
          <p:cNvPr id="9" name="Rule card 3"/>
          <p:cNvSpPr/>
          <p:nvPr/>
        </p:nvSpPr>
        <p:spPr>
          <a:xfrm>
            <a:off x="548640" y="3602736"/>
            <a:ext cx="5212080" cy="914400"/>
          </a:xfrm>
          <a:prstGeom prst="roundRect">
            <a:avLst>
              <a:gd name="adj" fmla="val 12000"/>
            </a:avLst>
          </a:prstGeom>
          <a:solidFill>
            <a:schemeClr val="bg1"/>
          </a:solidFill>
          <a:ln w="9525">
            <a:solidFill>
              <a:schemeClr val="accent4"/>
            </a:solidFill>
            <a:prstDash val="solid"/>
          </a:ln>
        </p:spPr>
      </p:sp>
      <p:sp>
        <p:nvSpPr>
          <p:cNvPr id="10" name="Step 3"/>
          <p:cNvSpPr txBox="1"/>
          <p:nvPr/>
        </p:nvSpPr>
        <p:spPr>
          <a:xfrm>
            <a:off x="777240" y="3803904"/>
            <a:ext cx="512064" cy="51206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463040" y="3602736"/>
            <a:ext cx="4160520" cy="914400"/>
          </a:xfrm>
          <a:prstGeom prst="rect">
            <a:avLst/>
          </a:prstGeom>
          <a:noFill/>
          <a:ln/>
        </p:spPr>
        <p:txBody>
          <a:bodyPr wrap="square" lIns="0" tIns="0" rIns="0" bIns="0" rtlCol="0" anchor="ctr"/>
          <a:lstStyle/>
          <a:p>
            <a:pPr indent="0" marL="0">
              <a:buNone/>
            </a:pPr>
            <a:r>
              <a:rPr lang="en-US" sz="1600" b="1" dirty="0">
                <a:solidFill>
                  <a:schemeClr val="tx1"/>
                </a:solidFill>
              </a:rPr>
              <a:t>Shelf-life cap</a:t>
            </a:r>
            <a:endParaRPr lang="en-US" sz="1600" dirty="0"/>
          </a:p>
          <a:p>
            <a:pPr indent="0" marL="0">
              <a:buNone/>
            </a:pPr>
            <a:r>
              <a:rPr lang="en-US" sz="1400" dirty="0">
                <a:solidFill>
                  <a:schemeClr val="tx1"/>
                </a:solidFill>
              </a:rPr>
              <a:t>Never order more than d × shelf life − stock on hand</a:t>
            </a:r>
            <a:endParaRPr lang="en-US" sz="1600" dirty="0"/>
          </a:p>
        </p:txBody>
      </p:sp>
      <p:sp>
        <p:nvSpPr>
          <p:cNvPr id="12" name="Rule card 4"/>
          <p:cNvSpPr/>
          <p:nvPr/>
        </p:nvSpPr>
        <p:spPr>
          <a:xfrm>
            <a:off x="548640" y="4626864"/>
            <a:ext cx="5212080" cy="914400"/>
          </a:xfrm>
          <a:prstGeom prst="roundRect">
            <a:avLst>
              <a:gd name="adj" fmla="val 12000"/>
            </a:avLst>
          </a:prstGeom>
          <a:solidFill>
            <a:schemeClr val="bg1"/>
          </a:solidFill>
          <a:ln w="9525">
            <a:solidFill>
              <a:schemeClr val="accent4"/>
            </a:solidFill>
            <a:prstDash val="solid"/>
          </a:ln>
        </p:spPr>
      </p:sp>
      <p:sp>
        <p:nvSpPr>
          <p:cNvPr id="13" name="Step 4"/>
          <p:cNvSpPr txBox="1"/>
          <p:nvPr/>
        </p:nvSpPr>
        <p:spPr>
          <a:xfrm>
            <a:off x="777240" y="4828032"/>
            <a:ext cx="512064" cy="51206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463040" y="4626864"/>
            <a:ext cx="4160520" cy="914400"/>
          </a:xfrm>
          <a:prstGeom prst="rect">
            <a:avLst/>
          </a:prstGeom>
          <a:noFill/>
          <a:ln/>
        </p:spPr>
        <p:txBody>
          <a:bodyPr wrap="square" lIns="0" tIns="0" rIns="0" bIns="0" rtlCol="0" anchor="ctr"/>
          <a:lstStyle/>
          <a:p>
            <a:pPr indent="0" marL="0">
              <a:buNone/>
            </a:pPr>
            <a:r>
              <a:rPr lang="en-US" sz="1600" b="1" dirty="0">
                <a:solidFill>
                  <a:schemeClr val="tx1"/>
                </a:solidFill>
              </a:rPr>
              <a:t>Final order</a:t>
            </a:r>
            <a:endParaRPr lang="en-US" sz="1600" dirty="0"/>
          </a:p>
          <a:p>
            <a:pPr indent="0" marL="0">
              <a:buNone/>
            </a:pPr>
            <a:r>
              <a:rPr lang="en-US" sz="1400" dirty="0">
                <a:solidFill>
                  <a:schemeClr val="tx1"/>
                </a:solidFill>
              </a:rPr>
              <a:t>Smaller of the rounded order and the cap, never below 0</a:t>
            </a:r>
            <a:endParaRPr lang="en-US" sz="1600" dirty="0"/>
          </a:p>
        </p:txBody>
      </p:sp>
      <p:sp>
        <p:nvSpPr>
          <p:cNvPr id="15" name="Example card"/>
          <p:cNvSpPr/>
          <p:nvPr/>
        </p:nvSpPr>
        <p:spPr>
          <a:xfrm>
            <a:off x="6035040" y="1554480"/>
            <a:ext cx="5605272" cy="4462272"/>
          </a:xfrm>
          <a:prstGeom prst="roundRect">
            <a:avLst>
              <a:gd name="adj" fmla="val 2459"/>
            </a:avLst>
          </a:prstGeom>
          <a:solidFill>
            <a:schemeClr val="bg1"/>
          </a:solidFill>
          <a:ln w="9525">
            <a:solidFill>
              <a:schemeClr val="accent4"/>
            </a:solidFill>
            <a:prstDash val="solid"/>
          </a:ln>
        </p:spPr>
      </p:sp>
      <p:sp>
        <p:nvSpPr>
          <p:cNvPr id="16" name="Text 14"/>
          <p:cNvSpPr txBox="1"/>
          <p:nvPr/>
        </p:nvSpPr>
        <p:spPr>
          <a:xfrm>
            <a:off x="6355080" y="1737360"/>
            <a:ext cx="5029200" cy="365760"/>
          </a:xfrm>
          <a:prstGeom prst="rect">
            <a:avLst/>
          </a:prstGeom>
          <a:noFill/>
          <a:ln/>
        </p:spPr>
        <p:txBody>
          <a:bodyPr wrap="square" lIns="0" tIns="0" rIns="0" bIns="0" rtlCol="0" anchor="t"/>
          <a:lstStyle/>
          <a:p>
            <a:pPr indent="0" marL="0">
              <a:buNone/>
            </a:pPr>
            <a:r>
              <a:rPr lang="en-US" sz="1800" b="1" dirty="0">
                <a:solidFill>
                  <a:schemeClr val="tx1"/>
                </a:solidFill>
              </a:rPr>
              <a:t>Worked example: Bread Loaf</a:t>
            </a:r>
            <a:endParaRPr lang="en-US" sz="1800" dirty="0"/>
          </a:p>
        </p:txBody>
      </p:sp>
      <p:sp>
        <p:nvSpPr>
          <p:cNvPr id="17" name="Text 15"/>
          <p:cNvSpPr txBox="1"/>
          <p:nvPr/>
        </p:nvSpPr>
        <p:spPr>
          <a:xfrm>
            <a:off x="6355080" y="2148840"/>
            <a:ext cx="4983480" cy="548640"/>
          </a:xfrm>
          <a:prstGeom prst="rect">
            <a:avLst/>
          </a:prstGeom>
          <a:noFill/>
          <a:ln/>
        </p:spPr>
        <p:txBody>
          <a:bodyPr wrap="square" lIns="0" tIns="0" rIns="0" bIns="0" rtlCol="0" anchor="t"/>
          <a:lstStyle/>
          <a:p>
            <a:pPr indent="0" marL="0">
              <a:buNone/>
            </a:pPr>
            <a:r>
              <a:rPr lang="en-US" sz="1400" dirty="0">
                <a:solidFill>
                  <a:schemeClr val="accent5"/>
                </a:solidFill>
              </a:rPr>
              <a:t>d = 20/day · L = 2 days · stock = 15 · safety stock = 5 · shelf life = 3 days · pack size = 6</a:t>
            </a:r>
            <a:endParaRPr lang="en-US" sz="1400" dirty="0"/>
          </a:p>
        </p:txBody>
      </p:sp>
      <p:sp>
        <p:nvSpPr>
          <p:cNvPr id="18" name="Calc row 1"/>
          <p:cNvSpPr/>
          <p:nvPr/>
        </p:nvSpPr>
        <p:spPr>
          <a:xfrm>
            <a:off x="6355080" y="2834640"/>
            <a:ext cx="4965192" cy="475488"/>
          </a:xfrm>
          <a:prstGeom prst="roundRect">
            <a:avLst>
              <a:gd name="adj" fmla="val 15385"/>
            </a:avLst>
          </a:prstGeom>
          <a:solidFill>
            <a:schemeClr val="bg2"/>
          </a:solidFill>
          <a:ln w="6350">
            <a:solidFill>
              <a:schemeClr val="bg2"/>
            </a:solidFill>
            <a:prstDash val="solid"/>
          </a:ln>
        </p:spPr>
      </p:sp>
      <p:sp>
        <p:nvSpPr>
          <p:cNvPr id="19" name="Text 17"/>
          <p:cNvSpPr txBox="1"/>
          <p:nvPr/>
        </p:nvSpPr>
        <p:spPr>
          <a:xfrm>
            <a:off x="6537960" y="2834640"/>
            <a:ext cx="2103120" cy="475488"/>
          </a:xfrm>
          <a:prstGeom prst="rect">
            <a:avLst/>
          </a:prstGeom>
          <a:noFill/>
          <a:ln/>
        </p:spPr>
        <p:txBody>
          <a:bodyPr wrap="square" lIns="0" tIns="0" rIns="0" bIns="0" rtlCol="0" anchor="ctr"/>
          <a:lstStyle/>
          <a:p>
            <a:pPr indent="0" marL="0">
              <a:buNone/>
            </a:pPr>
            <a:r>
              <a:rPr lang="en-US" sz="1400" dirty="0">
                <a:solidFill>
                  <a:schemeClr val="accent5"/>
                </a:solidFill>
              </a:rPr>
              <a:t>Lead-time demand</a:t>
            </a:r>
            <a:endParaRPr lang="en-US" sz="1400" dirty="0"/>
          </a:p>
        </p:txBody>
      </p:sp>
      <p:sp>
        <p:nvSpPr>
          <p:cNvPr id="20" name="Text 18"/>
          <p:cNvSpPr txBox="1"/>
          <p:nvPr/>
        </p:nvSpPr>
        <p:spPr>
          <a:xfrm>
            <a:off x="8641080" y="2834640"/>
            <a:ext cx="2606040" cy="475488"/>
          </a:xfrm>
          <a:prstGeom prst="rect">
            <a:avLst/>
          </a:prstGeom>
          <a:noFill/>
          <a:ln/>
        </p:spPr>
        <p:txBody>
          <a:bodyPr wrap="square" lIns="0" tIns="0" rIns="0" bIns="0" rtlCol="0" anchor="ctr"/>
          <a:lstStyle/>
          <a:p>
            <a:pPr indent="0" marL="0">
              <a:buNone/>
            </a:pPr>
            <a:r>
              <a:rPr lang="en-US" sz="1600" b="1" dirty="0">
                <a:solidFill>
                  <a:schemeClr val="tx1"/>
                </a:solidFill>
              </a:rPr>
              <a:t>20 × 2 = 40</a:t>
            </a:r>
            <a:endParaRPr lang="en-US" sz="1600" dirty="0"/>
          </a:p>
        </p:txBody>
      </p:sp>
      <p:sp>
        <p:nvSpPr>
          <p:cNvPr id="21" name="Calc row 2"/>
          <p:cNvSpPr/>
          <p:nvPr/>
        </p:nvSpPr>
        <p:spPr>
          <a:xfrm>
            <a:off x="6355080" y="3401568"/>
            <a:ext cx="4965192" cy="475488"/>
          </a:xfrm>
          <a:prstGeom prst="roundRect">
            <a:avLst>
              <a:gd name="adj" fmla="val 15385"/>
            </a:avLst>
          </a:prstGeom>
          <a:solidFill>
            <a:schemeClr val="bg2"/>
          </a:solidFill>
          <a:ln w="6350">
            <a:solidFill>
              <a:schemeClr val="bg2"/>
            </a:solidFill>
            <a:prstDash val="solid"/>
          </a:ln>
        </p:spPr>
      </p:sp>
      <p:sp>
        <p:nvSpPr>
          <p:cNvPr id="22" name="Text 20"/>
          <p:cNvSpPr txBox="1"/>
          <p:nvPr/>
        </p:nvSpPr>
        <p:spPr>
          <a:xfrm>
            <a:off x="6537960" y="3401568"/>
            <a:ext cx="2103120" cy="475488"/>
          </a:xfrm>
          <a:prstGeom prst="rect">
            <a:avLst/>
          </a:prstGeom>
          <a:noFill/>
          <a:ln/>
        </p:spPr>
        <p:txBody>
          <a:bodyPr wrap="square" lIns="0" tIns="0" rIns="0" bIns="0" rtlCol="0" anchor="ctr"/>
          <a:lstStyle/>
          <a:p>
            <a:pPr indent="0" marL="0">
              <a:buNone/>
            </a:pPr>
            <a:r>
              <a:rPr lang="en-US" sz="1400" dirty="0">
                <a:solidFill>
                  <a:schemeClr val="accent5"/>
                </a:solidFill>
              </a:rPr>
              <a:t>Reorder point</a:t>
            </a:r>
            <a:endParaRPr lang="en-US" sz="1400" dirty="0"/>
          </a:p>
        </p:txBody>
      </p:sp>
      <p:sp>
        <p:nvSpPr>
          <p:cNvPr id="23" name="Text 21"/>
          <p:cNvSpPr txBox="1"/>
          <p:nvPr/>
        </p:nvSpPr>
        <p:spPr>
          <a:xfrm>
            <a:off x="8641080" y="3401568"/>
            <a:ext cx="2606040" cy="475488"/>
          </a:xfrm>
          <a:prstGeom prst="rect">
            <a:avLst/>
          </a:prstGeom>
          <a:noFill/>
          <a:ln/>
        </p:spPr>
        <p:txBody>
          <a:bodyPr wrap="square" lIns="0" tIns="0" rIns="0" bIns="0" rtlCol="0" anchor="ctr"/>
          <a:lstStyle/>
          <a:p>
            <a:pPr indent="0" marL="0">
              <a:buNone/>
            </a:pPr>
            <a:r>
              <a:rPr lang="en-US" sz="1600" b="1" dirty="0">
                <a:solidFill>
                  <a:schemeClr val="tx1"/>
                </a:solidFill>
              </a:rPr>
              <a:t>40 + 5 = 45</a:t>
            </a:r>
            <a:endParaRPr lang="en-US" sz="1600" dirty="0"/>
          </a:p>
        </p:txBody>
      </p:sp>
      <p:sp>
        <p:nvSpPr>
          <p:cNvPr id="24" name="Calc row 3"/>
          <p:cNvSpPr/>
          <p:nvPr/>
        </p:nvSpPr>
        <p:spPr>
          <a:xfrm>
            <a:off x="6355080" y="3968496"/>
            <a:ext cx="4965192" cy="475488"/>
          </a:xfrm>
          <a:prstGeom prst="roundRect">
            <a:avLst>
              <a:gd name="adj" fmla="val 15385"/>
            </a:avLst>
          </a:prstGeom>
          <a:solidFill>
            <a:schemeClr val="bg2"/>
          </a:solidFill>
          <a:ln w="6350">
            <a:solidFill>
              <a:schemeClr val="bg2"/>
            </a:solidFill>
            <a:prstDash val="solid"/>
          </a:ln>
        </p:spPr>
      </p:sp>
      <p:sp>
        <p:nvSpPr>
          <p:cNvPr id="25" name="Text 23"/>
          <p:cNvSpPr txBox="1"/>
          <p:nvPr/>
        </p:nvSpPr>
        <p:spPr>
          <a:xfrm>
            <a:off x="6537960" y="3968496"/>
            <a:ext cx="2103120" cy="475488"/>
          </a:xfrm>
          <a:prstGeom prst="rect">
            <a:avLst/>
          </a:prstGeom>
          <a:noFill/>
          <a:ln/>
        </p:spPr>
        <p:txBody>
          <a:bodyPr wrap="square" lIns="0" tIns="0" rIns="0" bIns="0" rtlCol="0" anchor="ctr"/>
          <a:lstStyle/>
          <a:p>
            <a:pPr indent="0" marL="0">
              <a:buNone/>
            </a:pPr>
            <a:r>
              <a:rPr lang="en-US" sz="1400" dirty="0">
                <a:solidFill>
                  <a:schemeClr val="accent5"/>
                </a:solidFill>
              </a:rPr>
              <a:t>Raw order</a:t>
            </a:r>
            <a:endParaRPr lang="en-US" sz="1400" dirty="0"/>
          </a:p>
        </p:txBody>
      </p:sp>
      <p:sp>
        <p:nvSpPr>
          <p:cNvPr id="26" name="Text 24"/>
          <p:cNvSpPr txBox="1"/>
          <p:nvPr/>
        </p:nvSpPr>
        <p:spPr>
          <a:xfrm>
            <a:off x="8641080" y="3968496"/>
            <a:ext cx="2606040" cy="475488"/>
          </a:xfrm>
          <a:prstGeom prst="rect">
            <a:avLst/>
          </a:prstGeom>
          <a:noFill/>
          <a:ln/>
        </p:spPr>
        <p:txBody>
          <a:bodyPr wrap="square" lIns="0" tIns="0" rIns="0" bIns="0" rtlCol="0" anchor="ctr"/>
          <a:lstStyle/>
          <a:p>
            <a:pPr indent="0" marL="0">
              <a:buNone/>
            </a:pPr>
            <a:r>
              <a:rPr lang="en-US" sz="1600" b="1" dirty="0">
                <a:solidFill>
                  <a:schemeClr val="tx1"/>
                </a:solidFill>
              </a:rPr>
              <a:t>45 − 15 = 30</a:t>
            </a:r>
            <a:endParaRPr lang="en-US" sz="1600" dirty="0"/>
          </a:p>
        </p:txBody>
      </p:sp>
      <p:sp>
        <p:nvSpPr>
          <p:cNvPr id="27" name="Calc row 4"/>
          <p:cNvSpPr/>
          <p:nvPr/>
        </p:nvSpPr>
        <p:spPr>
          <a:xfrm>
            <a:off x="6355080" y="4535424"/>
            <a:ext cx="4965192" cy="475488"/>
          </a:xfrm>
          <a:prstGeom prst="roundRect">
            <a:avLst>
              <a:gd name="adj" fmla="val 15385"/>
            </a:avLst>
          </a:prstGeom>
          <a:solidFill>
            <a:schemeClr val="bg2"/>
          </a:solidFill>
          <a:ln w="6350">
            <a:solidFill>
              <a:schemeClr val="bg2"/>
            </a:solidFill>
            <a:prstDash val="solid"/>
          </a:ln>
        </p:spPr>
      </p:sp>
      <p:sp>
        <p:nvSpPr>
          <p:cNvPr id="28" name="Text 26"/>
          <p:cNvSpPr txBox="1"/>
          <p:nvPr/>
        </p:nvSpPr>
        <p:spPr>
          <a:xfrm>
            <a:off x="6537960" y="4535424"/>
            <a:ext cx="2103120" cy="475488"/>
          </a:xfrm>
          <a:prstGeom prst="rect">
            <a:avLst/>
          </a:prstGeom>
          <a:noFill/>
          <a:ln/>
        </p:spPr>
        <p:txBody>
          <a:bodyPr wrap="square" lIns="0" tIns="0" rIns="0" bIns="0" rtlCol="0" anchor="ctr"/>
          <a:lstStyle/>
          <a:p>
            <a:pPr indent="0" marL="0">
              <a:buNone/>
            </a:pPr>
            <a:r>
              <a:rPr lang="en-US" sz="1400" dirty="0">
                <a:solidFill>
                  <a:schemeClr val="accent5"/>
                </a:solidFill>
              </a:rPr>
              <a:t>Shelf-life cap</a:t>
            </a:r>
            <a:endParaRPr lang="en-US" sz="1400" dirty="0"/>
          </a:p>
        </p:txBody>
      </p:sp>
      <p:sp>
        <p:nvSpPr>
          <p:cNvPr id="29" name="Text 27"/>
          <p:cNvSpPr txBox="1"/>
          <p:nvPr/>
        </p:nvSpPr>
        <p:spPr>
          <a:xfrm>
            <a:off x="8641080" y="4535424"/>
            <a:ext cx="2606040" cy="475488"/>
          </a:xfrm>
          <a:prstGeom prst="rect">
            <a:avLst/>
          </a:prstGeom>
          <a:noFill/>
          <a:ln/>
        </p:spPr>
        <p:txBody>
          <a:bodyPr wrap="square" lIns="0" tIns="0" rIns="0" bIns="0" rtlCol="0" anchor="ctr"/>
          <a:lstStyle/>
          <a:p>
            <a:pPr indent="0" marL="0">
              <a:buNone/>
            </a:pPr>
            <a:r>
              <a:rPr lang="en-US" sz="1600" b="1" dirty="0">
                <a:solidFill>
                  <a:schemeClr val="tx1"/>
                </a:solidFill>
              </a:rPr>
              <a:t>20 × 3 − 15 = 45  (30 fits)</a:t>
            </a:r>
            <a:endParaRPr lang="en-US" sz="1600" dirty="0"/>
          </a:p>
        </p:txBody>
      </p:sp>
      <p:sp>
        <p:nvSpPr>
          <p:cNvPr id="30" name="Final order row"/>
          <p:cNvSpPr/>
          <p:nvPr/>
        </p:nvSpPr>
        <p:spPr>
          <a:xfrm>
            <a:off x="6355080" y="5166360"/>
            <a:ext cx="4965192" cy="640080"/>
          </a:xfrm>
          <a:prstGeom prst="roundRect">
            <a:avLst>
              <a:gd name="adj" fmla="val 11429"/>
            </a:avLst>
          </a:prstGeom>
          <a:solidFill>
            <a:schemeClr val="tx2"/>
          </a:solidFill>
          <a:ln w="6350">
            <a:solidFill>
              <a:schemeClr val="tx2"/>
            </a:solidFill>
            <a:prstDash val="solid"/>
          </a:ln>
        </p:spPr>
      </p:sp>
      <p:sp>
        <p:nvSpPr>
          <p:cNvPr id="31" name="Text 29"/>
          <p:cNvSpPr txBox="1"/>
          <p:nvPr/>
        </p:nvSpPr>
        <p:spPr>
          <a:xfrm>
            <a:off x="6537960" y="5166360"/>
            <a:ext cx="4663440" cy="640080"/>
          </a:xfrm>
          <a:prstGeom prst="rect">
            <a:avLst/>
          </a:prstGeom>
          <a:noFill/>
          <a:ln/>
        </p:spPr>
        <p:txBody>
          <a:bodyPr wrap="square" lIns="0" tIns="0" rIns="0" bIns="0" rtlCol="0" anchor="ctr"/>
          <a:lstStyle/>
          <a:p>
            <a:pPr indent="0" marL="0">
              <a:buNone/>
            </a:pPr>
            <a:r>
              <a:rPr lang="en-US" sz="1800" dirty="0">
                <a:solidFill>
                  <a:schemeClr val="accent4"/>
                </a:solidFill>
              </a:rPr>
              <a:t>Final order: </a:t>
            </a:r>
            <a:pPr indent="0" marL="0">
              <a:buNone/>
            </a:pPr>
            <a:r>
              <a:rPr lang="en-US" sz="1800" b="1" dirty="0">
                <a:solidFill>
                  <a:schemeClr val="bg1"/>
                </a:solidFill>
              </a:rPr>
              <a:t>30 units (5 packs of 6)</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The ranked reorder list: most urgent first</a:t>
            </a:r>
            <a:endParaRPr lang="en-US" sz="3200" dirty="0"/>
          </a:p>
        </p:txBody>
      </p:sp>
      <p:graphicFrame>
        <p:nvGraphicFramePr>
          <p:cNvPr id="7" name="Ranked order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640080"/>
                <a:gridCol w="2130552"/>
                <a:gridCol w="1188720"/>
                <a:gridCol w="1645920"/>
                <a:gridCol w="1737360"/>
                <a:gridCol w="1280160"/>
                <a:gridCol w="1280160"/>
                <a:gridCol w="1188720"/>
              </a:tblGrid>
              <a:tr h="530352">
                <a:tc>
                  <a:txBody>
                    <a:bodyPr/>
                    <a:lstStyle/>
                    <a:p>
                      <a:pPr algn="l" indent="0" marL="0">
                        <a:buNone/>
                      </a:pPr>
                      <a:r>
                        <a:rPr lang="en-US" sz="1400" b="1" dirty="0">
                          <a:solidFill>
                            <a:schemeClr val="bg1"/>
                          </a:solidFill>
                        </a:rPr>
                        <a: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400" b="1" dirty="0">
                          <a:solidFill>
                            <a:schemeClr val="bg1"/>
                          </a:solidFill>
                        </a:rPr>
                        <a:t>Product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Stock</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Days of cover</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Order qty</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Cost (₹)</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Profit (₹)</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Status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r>
              <a:tr h="530352">
                <a:tc>
                  <a:txBody>
                    <a:bodyPr/>
                    <a:lstStyle/>
                    <a:p>
                      <a:pPr algn="l" indent="0" marL="0">
                        <a:buNone/>
                      </a:pPr>
                      <a:r>
                        <a:rPr lang="en-US" sz="1400" dirty="0">
                          <a:solidFill>
                            <a:schemeClr val="tx1"/>
                          </a:solidFill>
                        </a:rPr>
                        <a:t>1</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1"/>
                          </a:solidFill>
                        </a:rPr>
                        <a:t>Bread Loaf</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15</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0.75</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30</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900</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300</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bg1"/>
                          </a:solidFill>
                        </a:rPr>
                        <a:t>Critical</a:t>
                      </a:r>
                      <a:endParaRPr lang="en-US" sz="12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accent2"/>
                    </a:solidFill>
                  </a:tcPr>
                </a:tc>
              </a:tr>
              <a:tr h="530352">
                <a:tc>
                  <a:txBody>
                    <a:bodyPr/>
                    <a:lstStyle/>
                    <a:p>
                      <a:pPr algn="l" indent="0" marL="0">
                        <a:buNone/>
                      </a:pPr>
                      <a:r>
                        <a:rPr lang="en-US" sz="1400" dirty="0">
                          <a:solidFill>
                            <a:schemeClr val="tx1"/>
                          </a:solidFill>
                        </a:rPr>
                        <a:t>2</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1"/>
                          </a:solidFill>
                        </a:rPr>
                        <a:t>Curd 500g</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5</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0.5</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15 (capped)</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600</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120</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bg1"/>
                          </a:solidFill>
                        </a:rPr>
                        <a:t>Critical</a:t>
                      </a:r>
                      <a:endParaRPr lang="en-US" sz="12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accent2"/>
                    </a:solidFill>
                  </a:tcPr>
                </a:tc>
              </a:tr>
              <a:tr h="530352">
                <a:tc>
                  <a:txBody>
                    <a:bodyPr/>
                    <a:lstStyle/>
                    <a:p>
                      <a:pPr algn="l" indent="0" marL="0">
                        <a:buNone/>
                      </a:pPr>
                      <a:r>
                        <a:rPr lang="en-US" sz="1400" dirty="0">
                          <a:solidFill>
                            <a:schemeClr val="tx1"/>
                          </a:solidFill>
                        </a:rPr>
                        <a:t>3</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1"/>
                          </a:solidFill>
                        </a:rPr>
                        <a:t>Milk 1L</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24</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2.0</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6</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300</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36</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Order soon</a:t>
                      </a:r>
                      <a:endParaRPr lang="en-US" sz="12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accent3"/>
                    </a:solidFill>
                  </a:tcPr>
                </a:tc>
              </a:tr>
              <a:tr h="530352">
                <a:tc>
                  <a:txBody>
                    <a:bodyPr/>
                    <a:lstStyle/>
                    <a:p>
                      <a:pPr algn="l" indent="0" marL="0">
                        <a:buNone/>
                      </a:pPr>
                      <a:r>
                        <a:rPr lang="en-US" sz="1400" dirty="0">
                          <a:solidFill>
                            <a:schemeClr val="tx1"/>
                          </a:solidFill>
                        </a:rPr>
                        <a:t>4</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1"/>
                          </a:solidFill>
                        </a:rPr>
                        <a:t>Rice 2kg</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41</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13.7</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0</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1"/>
                          </a:solidFill>
                        </a:rPr>
                        <a:t>Hold</a:t>
                      </a:r>
                      <a:endParaRPr lang="en-US" sz="1200" dirty="0"/>
                    </a:p>
                  </a:txBody>
                  <a:tcPr marL="109728" marR="109728" marT="0" marB="0" anchor="ctr">
                    <a:lnL w="0" cap="flat" cmpd="sng" algn="ctr">
                      <a:noFill/>
                    </a:lnL>
                    <a:lnR w="0" cap="flat" cmpd="sng" algn="ctr">
                      <a:noFill/>
                    </a:lnR>
                    <a:lnT w="0" cap="flat" cmpd="sng" algn="ctr">
                      <a:noFill/>
                    </a:lnT>
                    <a:lnB w="12700" cap="flat" cmpd="sng" algn="ctr">
                      <a:solidFill>
                        <a:srgbClr val="D5EEE9"/>
                      </a:solidFill>
                      <a:prstDash val="solid"/>
                      <a:round/>
                      <a:headEnd type="none" w="med" len="med"/>
                      <a:tailEnd type="none" w="med" len="med"/>
                    </a:lnB>
                    <a:solidFill>
                      <a:schemeClr val="accent4"/>
                    </a:solidFill>
                  </a:tcPr>
                </a:tc>
              </a:tr>
            </a:tbl>
          </a:graphicData>
        </a:graphic>
      </p:graphicFrame>
      <p:sp>
        <p:nvSpPr>
          <p:cNvPr id="4" name="Rule info 1"/>
          <p:cNvSpPr/>
          <p:nvPr/>
        </p:nvSpPr>
        <p:spPr>
          <a:xfrm>
            <a:off x="548640" y="4343400"/>
            <a:ext cx="3758184" cy="1691640"/>
          </a:xfrm>
          <a:prstGeom prst="roundRect">
            <a:avLst>
              <a:gd name="adj" fmla="val 6486"/>
            </a:avLst>
          </a:prstGeom>
          <a:solidFill>
            <a:schemeClr val="bg1"/>
          </a:solidFill>
          <a:ln w="9525">
            <a:solidFill>
              <a:schemeClr val="accent4"/>
            </a:solidFill>
            <a:prstDash val="solid"/>
          </a:ln>
        </p:spPr>
      </p:sp>
      <p:sp>
        <p:nvSpPr>
          <p:cNvPr id="5" name="Text 2"/>
          <p:cNvSpPr txBox="1"/>
          <p:nvPr/>
        </p:nvSpPr>
        <p:spPr>
          <a:xfrm>
            <a:off x="822960" y="4343400"/>
            <a:ext cx="3246120" cy="1691640"/>
          </a:xfrm>
          <a:prstGeom prst="rect">
            <a:avLst/>
          </a:prstGeom>
          <a:noFill/>
          <a:ln/>
        </p:spPr>
        <p:txBody>
          <a:bodyPr wrap="square" lIns="0" tIns="0" rIns="0" bIns="0" rtlCol="0" anchor="ctr"/>
          <a:lstStyle/>
          <a:p>
            <a:pPr indent="0" marL="0">
              <a:buNone/>
            </a:pPr>
            <a:r>
              <a:rPr lang="en-US" sz="1600" b="1" dirty="0">
                <a:solidFill>
                  <a:schemeClr val="accent1"/>
                </a:solidFill>
              </a:rPr>
              <a:t>Rule 1: status first</a:t>
            </a:r>
            <a:endParaRPr lang="en-US" sz="1600" dirty="0"/>
          </a:p>
          <a:p>
            <a:pPr indent="0" marL="0">
              <a:buNone/>
            </a:pPr>
            <a:r>
              <a:rPr lang="en-US" sz="1400" dirty="0">
                <a:solidFill>
                  <a:schemeClr val="tx1"/>
                </a:solidFill>
              </a:rPr>
              <a:t>Critical = days of cover below lead time. Order soon = stock below reorder point. Otherwise Hold.</a:t>
            </a:r>
            <a:endParaRPr lang="en-US" sz="1600" dirty="0"/>
          </a:p>
        </p:txBody>
      </p:sp>
      <p:sp>
        <p:nvSpPr>
          <p:cNvPr id="6" name="Rule info 2"/>
          <p:cNvSpPr/>
          <p:nvPr/>
        </p:nvSpPr>
        <p:spPr>
          <a:xfrm>
            <a:off x="4489704" y="4343400"/>
            <a:ext cx="3758184" cy="1691640"/>
          </a:xfrm>
          <a:prstGeom prst="roundRect">
            <a:avLst>
              <a:gd name="adj" fmla="val 6486"/>
            </a:avLst>
          </a:prstGeom>
          <a:solidFill>
            <a:schemeClr val="bg1"/>
          </a:solidFill>
          <a:ln w="9525">
            <a:solidFill>
              <a:schemeClr val="accent4"/>
            </a:solidFill>
            <a:prstDash val="solid"/>
          </a:ln>
        </p:spPr>
      </p:sp>
      <p:sp>
        <p:nvSpPr>
          <p:cNvPr id="7" name="Text 4"/>
          <p:cNvSpPr txBox="1"/>
          <p:nvPr/>
        </p:nvSpPr>
        <p:spPr>
          <a:xfrm>
            <a:off x="4764024" y="4343400"/>
            <a:ext cx="3246120" cy="1691640"/>
          </a:xfrm>
          <a:prstGeom prst="rect">
            <a:avLst/>
          </a:prstGeom>
          <a:noFill/>
          <a:ln/>
        </p:spPr>
        <p:txBody>
          <a:bodyPr wrap="square" lIns="0" tIns="0" rIns="0" bIns="0" rtlCol="0" anchor="ctr"/>
          <a:lstStyle/>
          <a:p>
            <a:pPr indent="0" marL="0">
              <a:buNone/>
            </a:pPr>
            <a:r>
              <a:rPr lang="en-US" sz="1600" b="1" dirty="0">
                <a:solidFill>
                  <a:schemeClr val="accent1"/>
                </a:solidFill>
              </a:rPr>
              <a:t>Rule 2: profit next</a:t>
            </a:r>
            <a:endParaRPr lang="en-US" sz="1600" dirty="0"/>
          </a:p>
          <a:p>
            <a:pPr indent="0" marL="0">
              <a:buNone/>
            </a:pPr>
            <a:r>
              <a:rPr lang="en-US" sz="1400" dirty="0">
                <a:solidFill>
                  <a:schemeClr val="tx1"/>
                </a:solidFill>
              </a:rPr>
              <a:t>Inside a status, higher profit at stake (unit margin × units ordered) comes first.</a:t>
            </a:r>
            <a:endParaRPr lang="en-US" sz="1600" dirty="0"/>
          </a:p>
        </p:txBody>
      </p:sp>
      <p:sp>
        <p:nvSpPr>
          <p:cNvPr id="8" name="Budget card"/>
          <p:cNvSpPr/>
          <p:nvPr/>
        </p:nvSpPr>
        <p:spPr>
          <a:xfrm>
            <a:off x="8430768" y="4343400"/>
            <a:ext cx="3209544" cy="1691640"/>
          </a:xfrm>
          <a:prstGeom prst="roundRect">
            <a:avLst>
              <a:gd name="adj" fmla="val 6486"/>
            </a:avLst>
          </a:prstGeom>
          <a:solidFill>
            <a:schemeClr val="tx2"/>
          </a:solidFill>
          <a:ln w="9525">
            <a:solidFill>
              <a:schemeClr val="accent4"/>
            </a:solidFill>
            <a:prstDash val="solid"/>
          </a:ln>
        </p:spPr>
      </p:sp>
      <p:sp>
        <p:nvSpPr>
          <p:cNvPr id="9" name="Text 6"/>
          <p:cNvSpPr txBox="1"/>
          <p:nvPr/>
        </p:nvSpPr>
        <p:spPr>
          <a:xfrm>
            <a:off x="8732520" y="4343400"/>
            <a:ext cx="2651760" cy="1691640"/>
          </a:xfrm>
          <a:prstGeom prst="rect">
            <a:avLst/>
          </a:prstGeom>
          <a:noFill/>
          <a:ln/>
        </p:spPr>
        <p:txBody>
          <a:bodyPr wrap="square" lIns="0" tIns="0" rIns="0" bIns="0" rtlCol="0" anchor="ctr"/>
          <a:lstStyle/>
          <a:p>
            <a:pPr indent="0" marL="0">
              <a:buNone/>
            </a:pPr>
            <a:r>
              <a:rPr lang="en-US" sz="1400" dirty="0">
                <a:solidFill>
                  <a:schemeClr val="accent4"/>
                </a:solidFill>
              </a:rPr>
              <a:t>Total purchase budget</a:t>
            </a:r>
            <a:endParaRPr lang="en-US" sz="1400" dirty="0"/>
          </a:p>
          <a:p>
            <a:pPr indent="0" marL="0">
              <a:buNone/>
            </a:pPr>
            <a:r>
              <a:rPr lang="en-US" sz="4000" b="1" dirty="0">
                <a:solidFill>
                  <a:schemeClr val="bg1"/>
                </a:solidFill>
              </a:rPr>
              <a:t>₹1,800</a:t>
            </a:r>
            <a:endParaRPr lang="en-US" sz="1400" dirty="0"/>
          </a:p>
          <a:p>
            <a:pPr indent="0" marL="0">
              <a:buNone/>
            </a:pPr>
            <a:r>
              <a:rPr lang="en-US" sz="1200" dirty="0">
                <a:solidFill>
                  <a:schemeClr val="accent6"/>
                </a:solidFill>
              </a:rPr>
              <a:t>Illustrative values only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How it is built and how we check it</a:t>
            </a:r>
            <a:endParaRPr lang="en-US" sz="3200" dirty="0"/>
          </a:p>
        </p:txBody>
      </p:sp>
      <p:sp>
        <p:nvSpPr>
          <p:cNvPr id="3" name="Module 1"/>
          <p:cNvSpPr/>
          <p:nvPr/>
        </p:nvSpPr>
        <p:spPr>
          <a:xfrm>
            <a:off x="548640" y="1554480"/>
            <a:ext cx="6035040" cy="777240"/>
          </a:xfrm>
          <a:prstGeom prst="roundRect">
            <a:avLst>
              <a:gd name="adj" fmla="val 14118"/>
            </a:avLst>
          </a:prstGeom>
          <a:solidFill>
            <a:schemeClr val="bg1"/>
          </a:solidFill>
          <a:ln w="9525">
            <a:solidFill>
              <a:schemeClr val="accent4"/>
            </a:solidFill>
            <a:prstDash val="solid"/>
          </a:ln>
        </p:spPr>
      </p:sp>
      <p:sp>
        <p:nvSpPr>
          <p:cNvPr id="4" name="Step 1"/>
          <p:cNvSpPr txBox="1"/>
          <p:nvPr/>
        </p:nvSpPr>
        <p:spPr>
          <a:xfrm>
            <a:off x="777240" y="1682496"/>
            <a:ext cx="512064" cy="51206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508760" y="1554480"/>
            <a:ext cx="4937760" cy="777240"/>
          </a:xfrm>
          <a:prstGeom prst="rect">
            <a:avLst/>
          </a:prstGeom>
          <a:noFill/>
          <a:ln/>
        </p:spPr>
        <p:txBody>
          <a:bodyPr wrap="square" lIns="0" tIns="0" rIns="0" bIns="0" rtlCol="0" anchor="ctr"/>
          <a:lstStyle/>
          <a:p>
            <a:pPr indent="0" marL="0">
              <a:buNone/>
            </a:pPr>
            <a:r>
              <a:rPr lang="en-US" sz="1600" b="1" dirty="0">
                <a:solidFill>
                  <a:schemeClr val="tx1"/>
                </a:solidFill>
              </a:rPr>
              <a:t>Load and validate</a:t>
            </a:r>
            <a:endParaRPr lang="en-US" sz="1600" dirty="0"/>
          </a:p>
          <a:p>
            <a:pPr indent="0" marL="0">
              <a:buNone/>
            </a:pPr>
            <a:r>
              <a:rPr lang="en-US" sz="1400" dirty="0">
                <a:solidFill>
                  <a:schemeClr val="accent5"/>
                </a:solidFill>
              </a:rPr>
              <a:t>Read CSV or Excel, clean records, flag gaps</a:t>
            </a:r>
            <a:endParaRPr lang="en-US" sz="1600" dirty="0"/>
          </a:p>
        </p:txBody>
      </p:sp>
      <p:sp>
        <p:nvSpPr>
          <p:cNvPr id="6" name="Module 2"/>
          <p:cNvSpPr/>
          <p:nvPr/>
        </p:nvSpPr>
        <p:spPr>
          <a:xfrm>
            <a:off x="548640" y="2450592"/>
            <a:ext cx="6035040" cy="777240"/>
          </a:xfrm>
          <a:prstGeom prst="roundRect">
            <a:avLst>
              <a:gd name="adj" fmla="val 14118"/>
            </a:avLst>
          </a:prstGeom>
          <a:solidFill>
            <a:schemeClr val="bg1"/>
          </a:solidFill>
          <a:ln w="9525">
            <a:solidFill>
              <a:schemeClr val="accent4"/>
            </a:solidFill>
            <a:prstDash val="solid"/>
          </a:ln>
        </p:spPr>
      </p:sp>
      <p:sp>
        <p:nvSpPr>
          <p:cNvPr id="7" name="Step 2"/>
          <p:cNvSpPr txBox="1"/>
          <p:nvPr/>
        </p:nvSpPr>
        <p:spPr>
          <a:xfrm>
            <a:off x="777240" y="2578608"/>
            <a:ext cx="512064" cy="51206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508760" y="2450592"/>
            <a:ext cx="4937760" cy="777240"/>
          </a:xfrm>
          <a:prstGeom prst="rect">
            <a:avLst/>
          </a:prstGeom>
          <a:noFill/>
          <a:ln/>
        </p:spPr>
        <p:txBody>
          <a:bodyPr wrap="square" lIns="0" tIns="0" rIns="0" bIns="0" rtlCol="0" anchor="ctr"/>
          <a:lstStyle/>
          <a:p>
            <a:pPr indent="0" marL="0">
              <a:buNone/>
            </a:pPr>
            <a:r>
              <a:rPr lang="en-US" sz="1600" b="1" dirty="0">
                <a:solidFill>
                  <a:schemeClr val="tx1"/>
                </a:solidFill>
              </a:rPr>
              <a:t>Forecast</a:t>
            </a:r>
            <a:endParaRPr lang="en-US" sz="1600" dirty="0"/>
          </a:p>
          <a:p>
            <a:pPr indent="0" marL="0">
              <a:buNone/>
            </a:pPr>
            <a:r>
              <a:rPr lang="en-US" sz="1400" dirty="0">
                <a:solidFill>
                  <a:schemeClr val="accent5"/>
                </a:solidFill>
              </a:rPr>
              <a:t>14-day moving average and standard deviation</a:t>
            </a:r>
            <a:endParaRPr lang="en-US" sz="1600" dirty="0"/>
          </a:p>
        </p:txBody>
      </p:sp>
      <p:sp>
        <p:nvSpPr>
          <p:cNvPr id="9" name="Module 3"/>
          <p:cNvSpPr/>
          <p:nvPr/>
        </p:nvSpPr>
        <p:spPr>
          <a:xfrm>
            <a:off x="548640" y="3346704"/>
            <a:ext cx="6035040" cy="777240"/>
          </a:xfrm>
          <a:prstGeom prst="roundRect">
            <a:avLst>
              <a:gd name="adj" fmla="val 14118"/>
            </a:avLst>
          </a:prstGeom>
          <a:solidFill>
            <a:schemeClr val="bg1"/>
          </a:solidFill>
          <a:ln w="9525">
            <a:solidFill>
              <a:schemeClr val="accent4"/>
            </a:solidFill>
            <a:prstDash val="solid"/>
          </a:ln>
        </p:spPr>
      </p:sp>
      <p:sp>
        <p:nvSpPr>
          <p:cNvPr id="10" name="Step 3"/>
          <p:cNvSpPr txBox="1"/>
          <p:nvPr/>
        </p:nvSpPr>
        <p:spPr>
          <a:xfrm>
            <a:off x="777240" y="3474720"/>
            <a:ext cx="512064" cy="51206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508760" y="3346704"/>
            <a:ext cx="4937760" cy="777240"/>
          </a:xfrm>
          <a:prstGeom prst="rect">
            <a:avLst/>
          </a:prstGeom>
          <a:noFill/>
          <a:ln/>
        </p:spPr>
        <p:txBody>
          <a:bodyPr wrap="square" lIns="0" tIns="0" rIns="0" bIns="0" rtlCol="0" anchor="ctr"/>
          <a:lstStyle/>
          <a:p>
            <a:pPr indent="0" marL="0">
              <a:buNone/>
            </a:pPr>
            <a:r>
              <a:rPr lang="en-US" sz="1600" b="1" dirty="0">
                <a:solidFill>
                  <a:schemeClr val="tx1"/>
                </a:solidFill>
              </a:rPr>
              <a:t>Order engine</a:t>
            </a:r>
            <a:endParaRPr lang="en-US" sz="1600" dirty="0"/>
          </a:p>
          <a:p>
            <a:pPr indent="0" marL="0">
              <a:buNone/>
            </a:pPr>
            <a:r>
              <a:rPr lang="en-US" sz="1400" dirty="0">
                <a:solidFill>
                  <a:schemeClr val="accent5"/>
                </a:solidFill>
              </a:rPr>
              <a:t>Reorder point, pack size, shelf-life cap</a:t>
            </a:r>
            <a:endParaRPr lang="en-US" sz="1600" dirty="0"/>
          </a:p>
        </p:txBody>
      </p:sp>
      <p:sp>
        <p:nvSpPr>
          <p:cNvPr id="12" name="Module 4"/>
          <p:cNvSpPr/>
          <p:nvPr/>
        </p:nvSpPr>
        <p:spPr>
          <a:xfrm>
            <a:off x="548640" y="4242816"/>
            <a:ext cx="6035040" cy="777240"/>
          </a:xfrm>
          <a:prstGeom prst="roundRect">
            <a:avLst>
              <a:gd name="adj" fmla="val 14118"/>
            </a:avLst>
          </a:prstGeom>
          <a:solidFill>
            <a:schemeClr val="bg1"/>
          </a:solidFill>
          <a:ln w="9525">
            <a:solidFill>
              <a:schemeClr val="accent4"/>
            </a:solidFill>
            <a:prstDash val="solid"/>
          </a:ln>
        </p:spPr>
      </p:sp>
      <p:sp>
        <p:nvSpPr>
          <p:cNvPr id="13" name="Step 4"/>
          <p:cNvSpPr txBox="1"/>
          <p:nvPr/>
        </p:nvSpPr>
        <p:spPr>
          <a:xfrm>
            <a:off x="777240" y="4370832"/>
            <a:ext cx="512064" cy="51206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508760" y="4242816"/>
            <a:ext cx="4937760" cy="777240"/>
          </a:xfrm>
          <a:prstGeom prst="rect">
            <a:avLst/>
          </a:prstGeom>
          <a:noFill/>
          <a:ln/>
        </p:spPr>
        <p:txBody>
          <a:bodyPr wrap="square" lIns="0" tIns="0" rIns="0" bIns="0" rtlCol="0" anchor="ctr"/>
          <a:lstStyle/>
          <a:p>
            <a:pPr indent="0" marL="0">
              <a:buNone/>
            </a:pPr>
            <a:r>
              <a:rPr lang="en-US" sz="1600" b="1" dirty="0">
                <a:solidFill>
                  <a:schemeClr val="tx1"/>
                </a:solidFill>
              </a:rPr>
              <a:t>Ranker</a:t>
            </a:r>
            <a:endParaRPr lang="en-US" sz="1600" dirty="0"/>
          </a:p>
          <a:p>
            <a:pPr indent="0" marL="0">
              <a:buNone/>
            </a:pPr>
            <a:r>
              <a:rPr lang="en-US" sz="1400" dirty="0">
                <a:solidFill>
                  <a:schemeClr val="accent5"/>
                </a:solidFill>
              </a:rPr>
              <a:t>Status first, then profit at stake</a:t>
            </a:r>
            <a:endParaRPr lang="en-US" sz="1600" dirty="0"/>
          </a:p>
        </p:txBody>
      </p:sp>
      <p:sp>
        <p:nvSpPr>
          <p:cNvPr id="15" name="Module 5"/>
          <p:cNvSpPr/>
          <p:nvPr/>
        </p:nvSpPr>
        <p:spPr>
          <a:xfrm>
            <a:off x="548640" y="5138928"/>
            <a:ext cx="6035040" cy="777240"/>
          </a:xfrm>
          <a:prstGeom prst="roundRect">
            <a:avLst>
              <a:gd name="adj" fmla="val 14118"/>
            </a:avLst>
          </a:prstGeom>
          <a:solidFill>
            <a:schemeClr val="bg1"/>
          </a:solidFill>
          <a:ln w="9525">
            <a:solidFill>
              <a:schemeClr val="accent4"/>
            </a:solidFill>
            <a:prstDash val="solid"/>
          </a:ln>
        </p:spPr>
      </p:sp>
      <p:sp>
        <p:nvSpPr>
          <p:cNvPr id="16" name="Step 5"/>
          <p:cNvSpPr txBox="1"/>
          <p:nvPr/>
        </p:nvSpPr>
        <p:spPr>
          <a:xfrm>
            <a:off x="777240" y="5266944"/>
            <a:ext cx="512064" cy="51206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1508760" y="5138928"/>
            <a:ext cx="4937760" cy="777240"/>
          </a:xfrm>
          <a:prstGeom prst="rect">
            <a:avLst/>
          </a:prstGeom>
          <a:noFill/>
          <a:ln/>
        </p:spPr>
        <p:txBody>
          <a:bodyPr wrap="square" lIns="0" tIns="0" rIns="0" bIns="0" rtlCol="0" anchor="ctr"/>
          <a:lstStyle/>
          <a:p>
            <a:pPr indent="0" marL="0">
              <a:buNone/>
            </a:pPr>
            <a:r>
              <a:rPr lang="en-US" sz="1600" b="1" dirty="0">
                <a:solidFill>
                  <a:schemeClr val="tx1"/>
                </a:solidFill>
              </a:rPr>
              <a:t>Dashboard</a:t>
            </a:r>
            <a:endParaRPr lang="en-US" sz="1600" dirty="0"/>
          </a:p>
          <a:p>
            <a:pPr indent="0" marL="0">
              <a:buNone/>
            </a:pPr>
            <a:r>
              <a:rPr lang="en-US" sz="1400" dirty="0">
                <a:solidFill>
                  <a:schemeClr val="accent5"/>
                </a:solidFill>
              </a:rPr>
              <a:t>Streamlit tables, Plotly charts, export</a:t>
            </a:r>
            <a:endParaRPr lang="en-US" sz="1600" dirty="0"/>
          </a:p>
        </p:txBody>
      </p:sp>
      <p:sp>
        <p:nvSpPr>
          <p:cNvPr id="18" name="Text 16"/>
          <p:cNvSpPr txBox="1"/>
          <p:nvPr/>
        </p:nvSpPr>
        <p:spPr>
          <a:xfrm>
            <a:off x="6949440" y="1554480"/>
            <a:ext cx="4572000" cy="365760"/>
          </a:xfrm>
          <a:prstGeom prst="rect">
            <a:avLst/>
          </a:prstGeom>
          <a:noFill/>
          <a:ln/>
        </p:spPr>
        <p:txBody>
          <a:bodyPr wrap="square" lIns="0" tIns="0" rIns="0" bIns="0" rtlCol="0" anchor="t"/>
          <a:lstStyle/>
          <a:p>
            <a:pPr indent="0" marL="0">
              <a:buNone/>
            </a:pPr>
            <a:r>
              <a:rPr lang="en-US" sz="1800" b="1" dirty="0">
                <a:solidFill>
                  <a:schemeClr val="tx1"/>
                </a:solidFill>
              </a:rPr>
              <a:t>Lightweight stack</a:t>
            </a:r>
            <a:endParaRPr lang="en-US" sz="1800" dirty="0"/>
          </a:p>
        </p:txBody>
      </p:sp>
      <p:sp>
        <p:nvSpPr>
          <p:cNvPr id="19" name="Stack chip 1"/>
          <p:cNvSpPr txBox="1"/>
          <p:nvPr/>
        </p:nvSpPr>
        <p:spPr>
          <a:xfrm>
            <a:off x="6949440" y="2011680"/>
            <a:ext cx="2267712" cy="530352"/>
          </a:xfrm>
          <a:prstGeom prst="roundRect">
            <a:avLst>
              <a:gd name="adj" fmla="val 17241"/>
            </a:avLst>
          </a:prstGeom>
          <a:solidFill>
            <a:schemeClr val="accent4"/>
          </a:solidFill>
          <a:ln/>
        </p:spPr>
        <p:txBody>
          <a:bodyPr wrap="square" lIns="0" tIns="0" rIns="0" bIns="0" rtlCol="0" anchor="ctr"/>
          <a:lstStyle/>
          <a:p>
            <a:pPr algn="ctr" indent="0" marL="0">
              <a:buNone/>
            </a:pPr>
            <a:r>
              <a:rPr lang="en-US" sz="1400" b="1" dirty="0">
                <a:solidFill>
                  <a:schemeClr val="tx1"/>
                </a:solidFill>
              </a:rPr>
              <a:t>Python</a:t>
            </a:r>
            <a:endParaRPr lang="en-US" sz="1400" dirty="0"/>
          </a:p>
        </p:txBody>
      </p:sp>
      <p:sp>
        <p:nvSpPr>
          <p:cNvPr id="20" name="Stack chip 2"/>
          <p:cNvSpPr txBox="1"/>
          <p:nvPr/>
        </p:nvSpPr>
        <p:spPr>
          <a:xfrm>
            <a:off x="9372600" y="2011680"/>
            <a:ext cx="2267712" cy="530352"/>
          </a:xfrm>
          <a:prstGeom prst="roundRect">
            <a:avLst>
              <a:gd name="adj" fmla="val 17241"/>
            </a:avLst>
          </a:prstGeom>
          <a:solidFill>
            <a:schemeClr val="accent4"/>
          </a:solidFill>
          <a:ln/>
        </p:spPr>
        <p:txBody>
          <a:bodyPr wrap="square" lIns="0" tIns="0" rIns="0" bIns="0" rtlCol="0" anchor="ctr"/>
          <a:lstStyle/>
          <a:p>
            <a:pPr algn="ctr" indent="0" marL="0">
              <a:buNone/>
            </a:pPr>
            <a:r>
              <a:rPr lang="en-US" sz="1400" b="1" dirty="0">
                <a:solidFill>
                  <a:schemeClr val="tx1"/>
                </a:solidFill>
              </a:rPr>
              <a:t>Pandas + NumPy</a:t>
            </a:r>
            <a:endParaRPr lang="en-US" sz="1400" dirty="0"/>
          </a:p>
        </p:txBody>
      </p:sp>
      <p:sp>
        <p:nvSpPr>
          <p:cNvPr id="21" name="Stack chip 3"/>
          <p:cNvSpPr txBox="1"/>
          <p:nvPr/>
        </p:nvSpPr>
        <p:spPr>
          <a:xfrm>
            <a:off x="6949440" y="2670048"/>
            <a:ext cx="2267712" cy="530352"/>
          </a:xfrm>
          <a:prstGeom prst="roundRect">
            <a:avLst>
              <a:gd name="adj" fmla="val 17241"/>
            </a:avLst>
          </a:prstGeom>
          <a:solidFill>
            <a:schemeClr val="accent4"/>
          </a:solidFill>
          <a:ln/>
        </p:spPr>
        <p:txBody>
          <a:bodyPr wrap="square" lIns="0" tIns="0" rIns="0" bIns="0" rtlCol="0" anchor="ctr"/>
          <a:lstStyle/>
          <a:p>
            <a:pPr algn="ctr" indent="0" marL="0">
              <a:buNone/>
            </a:pPr>
            <a:r>
              <a:rPr lang="en-US" sz="1400" b="1" dirty="0">
                <a:solidFill>
                  <a:schemeClr val="tx1"/>
                </a:solidFill>
              </a:rPr>
              <a:t>Streamlit</a:t>
            </a:r>
            <a:endParaRPr lang="en-US" sz="1400" dirty="0"/>
          </a:p>
        </p:txBody>
      </p:sp>
      <p:sp>
        <p:nvSpPr>
          <p:cNvPr id="22" name="Stack chip 4"/>
          <p:cNvSpPr txBox="1"/>
          <p:nvPr/>
        </p:nvSpPr>
        <p:spPr>
          <a:xfrm>
            <a:off x="9372600" y="2670048"/>
            <a:ext cx="2267712" cy="530352"/>
          </a:xfrm>
          <a:prstGeom prst="roundRect">
            <a:avLst>
              <a:gd name="adj" fmla="val 17241"/>
            </a:avLst>
          </a:prstGeom>
          <a:solidFill>
            <a:schemeClr val="accent4"/>
          </a:solidFill>
          <a:ln/>
        </p:spPr>
        <p:txBody>
          <a:bodyPr wrap="square" lIns="0" tIns="0" rIns="0" bIns="0" rtlCol="0" anchor="ctr"/>
          <a:lstStyle/>
          <a:p>
            <a:pPr algn="ctr" indent="0" marL="0">
              <a:buNone/>
            </a:pPr>
            <a:r>
              <a:rPr lang="en-US" sz="1400" b="1" dirty="0">
                <a:solidFill>
                  <a:schemeClr val="tx1"/>
                </a:solidFill>
              </a:rPr>
              <a:t>Plotly / Matplotlib</a:t>
            </a:r>
            <a:endParaRPr lang="en-US" sz="1400" dirty="0"/>
          </a:p>
        </p:txBody>
      </p:sp>
      <p:sp>
        <p:nvSpPr>
          <p:cNvPr id="23" name="Stack chip 5"/>
          <p:cNvSpPr txBox="1"/>
          <p:nvPr/>
        </p:nvSpPr>
        <p:spPr>
          <a:xfrm>
            <a:off x="6949440" y="3328416"/>
            <a:ext cx="2267712" cy="530352"/>
          </a:xfrm>
          <a:prstGeom prst="roundRect">
            <a:avLst>
              <a:gd name="adj" fmla="val 17241"/>
            </a:avLst>
          </a:prstGeom>
          <a:solidFill>
            <a:schemeClr val="accent4"/>
          </a:solidFill>
          <a:ln/>
        </p:spPr>
        <p:txBody>
          <a:bodyPr wrap="square" lIns="0" tIns="0" rIns="0" bIns="0" rtlCol="0" anchor="ctr"/>
          <a:lstStyle/>
          <a:p>
            <a:pPr algn="ctr" indent="0" marL="0">
              <a:buNone/>
            </a:pPr>
            <a:r>
              <a:rPr lang="en-US" sz="1400" b="1" dirty="0">
                <a:solidFill>
                  <a:schemeClr val="tx1"/>
                </a:solidFill>
              </a:rPr>
              <a:t>CSV / Excel</a:t>
            </a:r>
            <a:endParaRPr lang="en-US" sz="1400" dirty="0"/>
          </a:p>
        </p:txBody>
      </p:sp>
      <p:sp>
        <p:nvSpPr>
          <p:cNvPr id="24" name="Stack chip 6"/>
          <p:cNvSpPr txBox="1"/>
          <p:nvPr/>
        </p:nvSpPr>
        <p:spPr>
          <a:xfrm>
            <a:off x="9372600" y="3328416"/>
            <a:ext cx="2267712" cy="530352"/>
          </a:xfrm>
          <a:prstGeom prst="roundRect">
            <a:avLst>
              <a:gd name="adj" fmla="val 17241"/>
            </a:avLst>
          </a:prstGeom>
          <a:solidFill>
            <a:schemeClr val="accent4"/>
          </a:solidFill>
          <a:ln/>
        </p:spPr>
        <p:txBody>
          <a:bodyPr wrap="square" lIns="0" tIns="0" rIns="0" bIns="0" rtlCol="0" anchor="ctr"/>
          <a:lstStyle/>
          <a:p>
            <a:pPr algn="ctr" indent="0" marL="0">
              <a:buNone/>
            </a:pPr>
            <a:r>
              <a:rPr lang="en-US" sz="1400" b="1" dirty="0">
                <a:solidFill>
                  <a:schemeClr val="tx1"/>
                </a:solidFill>
              </a:rPr>
              <a:t>SQLite (optional)</a:t>
            </a:r>
            <a:endParaRPr lang="en-US" sz="1400" dirty="0"/>
          </a:p>
        </p:txBody>
      </p:sp>
      <p:sp>
        <p:nvSpPr>
          <p:cNvPr id="25" name="Accuracy card"/>
          <p:cNvSpPr/>
          <p:nvPr/>
        </p:nvSpPr>
        <p:spPr>
          <a:xfrm>
            <a:off x="6949440" y="4114800"/>
            <a:ext cx="4690872" cy="2011680"/>
          </a:xfrm>
          <a:prstGeom prst="roundRect">
            <a:avLst>
              <a:gd name="adj" fmla="val 5455"/>
            </a:avLst>
          </a:prstGeom>
          <a:solidFill>
            <a:schemeClr val="tx2"/>
          </a:solidFill>
          <a:ln w="9525">
            <a:solidFill>
              <a:schemeClr val="accent4"/>
            </a:solidFill>
            <a:prstDash val="solid"/>
          </a:ln>
        </p:spPr>
      </p:sp>
      <p:sp>
        <p:nvSpPr>
          <p:cNvPr id="26" name="Text 24"/>
          <p:cNvSpPr txBox="1"/>
          <p:nvPr/>
        </p:nvSpPr>
        <p:spPr>
          <a:xfrm>
            <a:off x="7223760" y="4114800"/>
            <a:ext cx="4160520" cy="2011680"/>
          </a:xfrm>
          <a:prstGeom prst="rect">
            <a:avLst/>
          </a:prstGeom>
          <a:noFill/>
          <a:ln/>
        </p:spPr>
        <p:txBody>
          <a:bodyPr wrap="square" lIns="0" tIns="0" rIns="0" bIns="0" rtlCol="0" anchor="ctr"/>
          <a:lstStyle/>
          <a:p>
            <a:pPr indent="0" marL="0">
              <a:spcAft>
                <a:spcPts val="400"/>
              </a:spcAft>
              <a:buNone/>
            </a:pPr>
            <a:r>
              <a:rPr lang="en-US" sz="1800" b="1" dirty="0">
                <a:solidFill>
                  <a:schemeClr val="bg1"/>
                </a:solidFill>
              </a:rPr>
              <a:t>Accuracy check</a:t>
            </a:r>
            <a:endParaRPr lang="en-US" sz="1800" dirty="0"/>
          </a:p>
          <a:p>
            <a:pPr indent="0" marL="0">
              <a:spcAft>
                <a:spcPts val="400"/>
              </a:spcAft>
              <a:buNone/>
            </a:pPr>
            <a:r>
              <a:rPr lang="en-US" sz="1400" dirty="0">
                <a:solidFill>
                  <a:schemeClr val="accent4"/>
                </a:solidFill>
              </a:rPr>
              <a:t>Hold out the last 7 days, forecast them, and compare with actual sales.</a:t>
            </a:r>
            <a:endParaRPr lang="en-US" sz="1800" dirty="0"/>
          </a:p>
          <a:p>
            <a:pPr indent="0" marL="0">
              <a:spcAft>
                <a:spcPts val="400"/>
              </a:spcAft>
              <a:buNone/>
            </a:pPr>
            <a:r>
              <a:rPr lang="en-US" sz="1400" b="1" dirty="0">
                <a:solidFill>
                  <a:schemeClr val="accent3"/>
                </a:solidFill>
              </a:rPr>
              <a:t>WAPE = Σ|actual − forecast| ÷ Σ actual</a:t>
            </a:r>
            <a:endParaRPr lang="en-US" sz="1800" dirty="0"/>
          </a:p>
          <a:p>
            <a:pPr indent="0" marL="0">
              <a:spcAft>
                <a:spcPts val="400"/>
              </a:spcAft>
              <a:buNone/>
            </a:pPr>
            <a:r>
              <a:rPr lang="en-US" sz="1400" dirty="0">
                <a:solidFill>
                  <a:schemeClr val="accent4"/>
                </a:solidFill>
              </a:rPr>
              <a:t>MAE is also reported per product.</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bg1"/>
                </a:solidFill>
              </a:rPr>
              <a:t>Better planning, with clear limits</a:t>
            </a:r>
            <a:endParaRPr lang="en-US" sz="3200" dirty="0"/>
          </a:p>
        </p:txBody>
      </p:sp>
      <p:sp>
        <p:nvSpPr>
          <p:cNvPr id="3" name="Benefits card"/>
          <p:cNvSpPr/>
          <p:nvPr/>
        </p:nvSpPr>
        <p:spPr>
          <a:xfrm>
            <a:off x="548640" y="1554480"/>
            <a:ext cx="5394960" cy="2743200"/>
          </a:xfrm>
          <a:prstGeom prst="roundRect">
            <a:avLst>
              <a:gd name="adj" fmla="val 4000"/>
            </a:avLst>
          </a:prstGeom>
          <a:solidFill>
            <a:schemeClr val="bg1"/>
          </a:solidFill>
          <a:ln w="9525">
            <a:solidFill>
              <a:schemeClr val="accent4"/>
            </a:solidFill>
            <a:prstDash val="solid"/>
          </a:ln>
        </p:spPr>
      </p:sp>
      <p:sp>
        <p:nvSpPr>
          <p:cNvPr id="4" name="Text 2"/>
          <p:cNvSpPr txBox="1"/>
          <p:nvPr/>
        </p:nvSpPr>
        <p:spPr>
          <a:xfrm>
            <a:off x="914400" y="1783080"/>
            <a:ext cx="4572000" cy="274320"/>
          </a:xfrm>
          <a:prstGeom prst="rect">
            <a:avLst/>
          </a:prstGeom>
          <a:noFill/>
          <a:ln/>
        </p:spPr>
        <p:txBody>
          <a:bodyPr wrap="square" lIns="0" tIns="0" rIns="0" bIns="0" rtlCol="0" anchor="t"/>
          <a:lstStyle/>
          <a:p>
            <a:pPr indent="0" marL="0">
              <a:buNone/>
            </a:pPr>
            <a:r>
              <a:rPr lang="en-US" sz="1200" b="1" dirty="0">
                <a:solidFill>
                  <a:schemeClr val="accent1"/>
                </a:solidFill>
              </a:rPr>
              <a:t>BENEFITS</a:t>
            </a:r>
            <a:endParaRPr lang="en-US" sz="1200" dirty="0"/>
          </a:p>
        </p:txBody>
      </p:sp>
      <p:sp>
        <p:nvSpPr>
          <p:cNvPr id="5" name="Text 3"/>
          <p:cNvSpPr txBox="1"/>
          <p:nvPr/>
        </p:nvSpPr>
        <p:spPr>
          <a:xfrm>
            <a:off x="914400" y="2148840"/>
            <a:ext cx="466344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Fewer avoidable stockouts</a:t>
            </a:r>
            <a:endParaRPr lang="en-US" sz="1600" dirty="0"/>
          </a:p>
          <a:p>
            <a:pPr marL="342900" indent="-342900">
              <a:spcAft>
                <a:spcPts val="800"/>
              </a:spcAft>
              <a:buSzPct val="100000"/>
              <a:buChar char="•"/>
            </a:pPr>
            <a:r>
              <a:rPr lang="en-US" sz="1600" dirty="0">
                <a:solidFill>
                  <a:schemeClr val="tx1"/>
                </a:solidFill>
              </a:rPr>
              <a:t>Less expiry waste</a:t>
            </a:r>
            <a:endParaRPr lang="en-US" sz="1600" dirty="0"/>
          </a:p>
          <a:p>
            <a:pPr marL="342900" indent="-342900">
              <a:spcAft>
                <a:spcPts val="800"/>
              </a:spcAft>
              <a:buSzPct val="100000"/>
              <a:buChar char="•"/>
            </a:pPr>
            <a:r>
              <a:rPr lang="en-US" sz="1600" dirty="0">
                <a:solidFill>
                  <a:schemeClr val="tx1"/>
                </a:solidFill>
              </a:rPr>
              <a:t>Stronger cash-flow planning</a:t>
            </a:r>
            <a:endParaRPr lang="en-US" sz="1600" dirty="0"/>
          </a:p>
          <a:p>
            <a:pPr marL="342900" indent="-342900">
              <a:spcAft>
                <a:spcPts val="800"/>
              </a:spcAft>
              <a:buSzPct val="100000"/>
              <a:buChar char="•"/>
            </a:pPr>
            <a:r>
              <a:rPr lang="en-US" sz="1600" dirty="0">
                <a:solidFill>
                  <a:schemeClr val="tx1"/>
                </a:solidFill>
              </a:rPr>
              <a:t>Every number explainable to the owner</a:t>
            </a:r>
            <a:endParaRPr lang="en-US" sz="1600" dirty="0"/>
          </a:p>
        </p:txBody>
      </p:sp>
      <p:sp>
        <p:nvSpPr>
          <p:cNvPr id="6" name="Limits card"/>
          <p:cNvSpPr/>
          <p:nvPr/>
        </p:nvSpPr>
        <p:spPr>
          <a:xfrm>
            <a:off x="6245352" y="1554480"/>
            <a:ext cx="5394960" cy="2743200"/>
          </a:xfrm>
          <a:prstGeom prst="roundRect">
            <a:avLst>
              <a:gd name="adj" fmla="val 4000"/>
            </a:avLst>
          </a:prstGeom>
          <a:solidFill>
            <a:schemeClr val="bg1"/>
          </a:solidFill>
          <a:ln w="9525">
            <a:solidFill>
              <a:schemeClr val="accent4"/>
            </a:solidFill>
            <a:prstDash val="solid"/>
          </a:ln>
        </p:spPr>
      </p:sp>
      <p:sp>
        <p:nvSpPr>
          <p:cNvPr id="7" name="Text 5"/>
          <p:cNvSpPr txBox="1"/>
          <p:nvPr/>
        </p:nvSpPr>
        <p:spPr>
          <a:xfrm>
            <a:off x="6611112" y="1783080"/>
            <a:ext cx="4572000" cy="274320"/>
          </a:xfrm>
          <a:prstGeom prst="rect">
            <a:avLst/>
          </a:prstGeom>
          <a:noFill/>
          <a:ln/>
        </p:spPr>
        <p:txBody>
          <a:bodyPr wrap="square" lIns="0" tIns="0" rIns="0" bIns="0" rtlCol="0" anchor="t"/>
          <a:lstStyle/>
          <a:p>
            <a:pPr indent="0" marL="0">
              <a:buNone/>
            </a:pPr>
            <a:r>
              <a:rPr lang="en-US" sz="1200" b="1" dirty="0">
                <a:solidFill>
                  <a:schemeClr val="accent2"/>
                </a:solidFill>
              </a:rPr>
              <a:t>LIMITS</a:t>
            </a:r>
            <a:endParaRPr lang="en-US" sz="1200" dirty="0"/>
          </a:p>
        </p:txBody>
      </p:sp>
      <p:sp>
        <p:nvSpPr>
          <p:cNvPr id="8" name="Text 6"/>
          <p:cNvSpPr txBox="1"/>
          <p:nvPr/>
        </p:nvSpPr>
        <p:spPr>
          <a:xfrm>
            <a:off x="6611112" y="2148840"/>
            <a:ext cx="466344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Forecast quality depends on sales history and stock accuracy</a:t>
            </a:r>
            <a:endParaRPr lang="en-US" sz="1600" dirty="0"/>
          </a:p>
          <a:p>
            <a:pPr marL="342900" indent="-342900">
              <a:spcAft>
                <a:spcPts val="800"/>
              </a:spcAft>
              <a:buSzPct val="100000"/>
              <a:buChar char="•"/>
            </a:pPr>
            <a:r>
              <a:rPr lang="en-US" sz="1600" dirty="0">
                <a:solidFill>
                  <a:schemeClr val="tx1"/>
                </a:solidFill>
              </a:rPr>
              <a:t>New products have little history</a:t>
            </a:r>
            <a:endParaRPr lang="en-US" sz="1600" dirty="0"/>
          </a:p>
          <a:p>
            <a:pPr marL="342900" indent="-342900">
              <a:spcAft>
                <a:spcPts val="800"/>
              </a:spcAft>
              <a:buSzPct val="100000"/>
              <a:buChar char="•"/>
            </a:pPr>
            <a:r>
              <a:rPr lang="en-US" sz="1600" dirty="0">
                <a:solidFill>
                  <a:schemeClr val="tx1"/>
                </a:solidFill>
              </a:rPr>
              <a:t>Sudden demand shifts and supplier delays reduce reliability</a:t>
            </a:r>
            <a:endParaRPr lang="en-US" sz="1600" dirty="0"/>
          </a:p>
        </p:txBody>
      </p:sp>
      <p:sp>
        <p:nvSpPr>
          <p:cNvPr id="9" name="Testing note strip"/>
          <p:cNvSpPr/>
          <p:nvPr/>
        </p:nvSpPr>
        <p:spPr>
          <a:xfrm>
            <a:off x="548640" y="4526280"/>
            <a:ext cx="11091672" cy="548640"/>
          </a:xfrm>
          <a:prstGeom prst="roundRect">
            <a:avLst>
              <a:gd name="adj" fmla="val 16667"/>
            </a:avLst>
          </a:prstGeom>
          <a:solidFill>
            <a:schemeClr val="accent3"/>
          </a:solidFill>
          <a:ln w="6350">
            <a:solidFill>
              <a:schemeClr val="accent3"/>
            </a:solidFill>
            <a:prstDash val="solid"/>
          </a:ln>
        </p:spPr>
      </p:sp>
      <p:sp>
        <p:nvSpPr>
          <p:cNvPr id="10" name="Text 8"/>
          <p:cNvSpPr txBox="1"/>
          <p:nvPr/>
        </p:nvSpPr>
        <p:spPr>
          <a:xfrm>
            <a:off x="914400" y="4526280"/>
            <a:ext cx="10332720" cy="548640"/>
          </a:xfrm>
          <a:prstGeom prst="rect">
            <a:avLst/>
          </a:prstGeom>
          <a:noFill/>
          <a:ln/>
        </p:spPr>
        <p:txBody>
          <a:bodyPr wrap="square" lIns="0" tIns="0" rIns="0" bIns="0" rtlCol="0" anchor="ctr"/>
          <a:lstStyle/>
          <a:p>
            <a:pPr indent="0" marL="0">
              <a:buNone/>
            </a:pPr>
            <a:r>
              <a:rPr lang="en-US" sz="1600" b="1" dirty="0">
                <a:solidFill>
                  <a:schemeClr val="tx1"/>
                </a:solidFill>
              </a:rPr>
              <a:t>Real-world impact still requires testing with actual shop data.</a:t>
            </a:r>
            <a:endParaRPr lang="en-US" sz="1600" dirty="0"/>
          </a:p>
        </p:txBody>
      </p:sp>
      <p:sp>
        <p:nvSpPr>
          <p:cNvPr id="11" name="Text 9"/>
          <p:cNvSpPr txBox="1"/>
          <p:nvPr/>
        </p:nvSpPr>
        <p:spPr>
          <a:xfrm>
            <a:off x="548640" y="5303520"/>
            <a:ext cx="11091672" cy="640080"/>
          </a:xfrm>
          <a:prstGeom prst="rect">
            <a:avLst/>
          </a:prstGeom>
          <a:noFill/>
          <a:ln/>
        </p:spPr>
        <p:txBody>
          <a:bodyPr wrap="square" lIns="0" tIns="0" rIns="0" bIns="0" rtlCol="0" anchor="t"/>
          <a:lstStyle/>
          <a:p>
            <a:pPr indent="0" marL="0">
              <a:buNone/>
            </a:pPr>
            <a:r>
              <a:rPr lang="en-US" sz="1400" b="1" dirty="0">
                <a:solidFill>
                  <a:schemeClr val="bg1"/>
                </a:solidFill>
              </a:rPr>
              <a:t>Future scope: </a:t>
            </a:r>
            <a:pPr indent="0" marL="0">
              <a:buNone/>
            </a:pPr>
            <a:r>
              <a:rPr lang="en-US" sz="1400" dirty="0">
                <a:solidFill>
                  <a:schemeClr val="accent4"/>
                </a:solidFill>
              </a:rPr>
              <a:t>seasonal and promotional signals, barcode stock updates, expiry alerts, supplier and purchase-order integration, multi-store analytics.</a:t>
            </a:r>
            <a:endParaRPr lang="en-US" sz="1400" dirty="0"/>
          </a:p>
        </p:txBody>
      </p:sp>
      <p:sp>
        <p:nvSpPr>
          <p:cNvPr id="12" name="Text 10"/>
          <p:cNvSpPr txBox="1"/>
          <p:nvPr/>
        </p:nvSpPr>
        <p:spPr>
          <a:xfrm>
            <a:off x="548640" y="6126480"/>
            <a:ext cx="11091672" cy="365760"/>
          </a:xfrm>
          <a:prstGeom prst="rect">
            <a:avLst/>
          </a:prstGeom>
          <a:noFill/>
          <a:ln/>
        </p:spPr>
        <p:txBody>
          <a:bodyPr wrap="square" lIns="0" tIns="0" rIns="0" bIns="0" rtlCol="0" anchor="t"/>
          <a:lstStyle/>
          <a:p>
            <a:pPr indent="0" marL="0">
              <a:buNone/>
            </a:pPr>
            <a:r>
              <a:rPr lang="en-US" sz="1400" b="1" dirty="0">
                <a:solidFill>
                  <a:schemeClr val="bg1"/>
                </a:solidFill>
              </a:rPr>
              <a:t>Thank you  |  Team Kioo: </a:t>
            </a:r>
            <a:pPr indent="0" marL="0">
              <a:buNone/>
            </a:pPr>
            <a:r>
              <a:rPr lang="en-US" sz="1400" dirty="0">
                <a:solidFill>
                  <a:schemeClr val="accent4"/>
                </a:solidFill>
              </a:rPr>
              <a:t>Manoj V, Md Sajid, Hariharan S</a:t>
            </a:r>
            <a:endParaRPr lang="en-US" sz="1400" dirty="0"/>
          </a:p>
        </p:txBody>
      </p:sp>
    </p:spTree>
  </p:cSld>
  <p:clrMapOvr>
    <a:masterClrMapping/>
  </p:clrMapOvr>
</p:sld>
</file>

<file path=ppt/theme/theme1.xml><?xml version="1.0" encoding="utf-8"?>
<a:theme xmlns:a="http://schemas.openxmlformats.org/drawingml/2006/main" name="StockSense">
  <a:themeElements>
    <a:clrScheme name="StockSense">
      <a:dk1>
        <a:srgbClr val="0B2B26"/>
      </a:dk1>
      <a:lt1>
        <a:srgbClr val="FFFFFF"/>
      </a:lt1>
      <a:dk2>
        <a:srgbClr val="063B33"/>
      </a:dk2>
      <a:lt2>
        <a:srgbClr val="F1F5F2"/>
      </a:lt2>
      <a:accent1>
        <a:srgbClr val="1A8F83"/>
      </a:accent1>
      <a:accent2>
        <a:srgbClr val="E8603C"/>
      </a:accent2>
      <a:accent3>
        <a:srgbClr val="F6D868"/>
      </a:accent3>
      <a:accent4>
        <a:srgbClr val="D5EEE9"/>
      </a:accent4>
      <a:accent5>
        <a:srgbClr val="5B7C76"/>
      </a:accent5>
      <a:accent6>
        <a:srgbClr val="9AB8B2"/>
      </a:accent6>
      <a:hlink>
        <a:srgbClr val="1A8F83"/>
      </a:hlink>
      <a:folHlink>
        <a:srgbClr val="5B7C76"/>
      </a:folHlink>
    </a:clrScheme>
    <a:fontScheme name="StockSen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StockSense: Small-Retail Reorder Planner</dc:title>
  <dc:subject>PptxGenJS Presentation</dc:subject>
  <dc:creator>Team Kioo</dc:creator>
  <cp:lastModifiedBy>Team Kioo</cp:lastModifiedBy>
  <cp:revision>1</cp:revision>
  <dcterms:created xsi:type="dcterms:W3CDTF">2026-10-23T09:30:23Z</dcterms:created>
  <dcterms:modified xsi:type="dcterms:W3CDTF">2026-10-23T09:30:23Z</dcterms:modified>
</cp:coreProperties>
</file>